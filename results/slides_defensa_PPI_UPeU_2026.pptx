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64592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D6E4F5"/>
                </a:solidFill>
              </a:rPr>
              <a:t>UNIVERSIDAD PERUANA UNIÓN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21792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6E4F5"/>
                </a:solidFill>
              </a:rPr>
              <a:t>Facultad de Ingeniería y Arquitectura  ·  PPI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Sistema de Detección Temprana de
Comportamientos Anómalos en Redes de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D6E4F5"/>
                </a:solidFill>
              </a:rPr>
              <a:t>Mediante Isolation Forest + Control Inline con iptables/ipset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1148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Autor:     Rubén Mark Salazar Tocas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4805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Asesor 1:  Ing. Nemias Saboya 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8463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Asesor 2:  Ing. Fernando Manuel Asin Gomez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3492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Estructura de la presentación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2/16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1.  Problema y motivación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013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2.  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3969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3.  Marco teórico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7802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4.  Topología del laboratorio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163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5.  Arquitectura del sistema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546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6.  Recolección y procesamiento de 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9300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7.  Modelo Isolation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313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8.  Umbrales de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9.  Motor de decisión en tiempo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013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10. Validación F6 — 40 corridas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13969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11. Resultados vs. requisitos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7802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12. Dashboard de monitoreo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163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13. Conclusiones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546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14. Trabajo futuro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49300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15. Preguntas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417320"/>
            <a:ext cx="11548872" cy="19050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Problema y Motivación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¿Por qué es necesario este sistema?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3/16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486400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Contexto universitario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Redes abiertas con cientos de dispositivos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304288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Tráfico legítimo mezclado con ataques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88336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Sin mecanismo de detección automática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72384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Respuesta manual lenta (minutos-horas)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566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Tipos de ataque presentes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77639"/>
            <a:ext cx="51206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SYN Flood — satura el 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97679"/>
            <a:ext cx="51206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Port Scan — reconocimiento de servicios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617719"/>
            <a:ext cx="51206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UDP/ICMP Flood — agota el ancho de banda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937759"/>
            <a:ext cx="51206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Brute Force SSH — compromete credenciales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257799"/>
            <a:ext cx="51206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HTTP Abuse — deniega el servicio web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417320"/>
            <a:ext cx="5760720" cy="51663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554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El problema en números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103120"/>
            <a:ext cx="5029200" cy="8686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148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</a:rPr>
              <a:t>~62s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86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Lead Time sin detección automática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154680"/>
            <a:ext cx="5029200" cy="8686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375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Disponibilidad requerida del servicio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06240"/>
            <a:ext cx="5029200" cy="8686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51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3891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Interrupción por Tiempo de Límite (ITL)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257800"/>
            <a:ext cx="5029200" cy="8686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</a:rPr>
              <a:t>&lt;500ms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5440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Latencia máxima permitida por flujo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61264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Propuesta: detección automática en tiempo real
con machine learning + control inline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General y específicos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4/16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40312" cy="9601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OBJETIVO GENERAL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Implementar y validar un sistema de detección temprana de comportamientos anómalos en redes de datos universitarias utilizando Isolation Forest, con control inline mediante iptables/ipset.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D62"/>
                </a:solidFill>
              </a:rPr>
              <a:t>OBJETIVOS ESPECÍFICOS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926080"/>
            <a:ext cx="11548872" cy="19050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868680" cy="658368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145536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F1–F2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1089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Capturar y preprocesar tráfico real (normal + anómalo) con Suricata 7.0.3. Extraer 14 features por flujo.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868680" cy="658368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922776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86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Entrenar Isolation Forest (n=300) y derivar umbrales τ1/τ2 óptimos mediante curva ROC.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72000"/>
            <a:ext cx="868680" cy="658368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F4–F5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6344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Implementar motor de decisión en tiempo real con latencia &lt; 500 ms y control inline (ipset).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868680" cy="658368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477256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4406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Validar el sistema con 40 corridas: Disponibilidad ≥ 99%, ITL = 0%, AUC-ROC ≥ 0.85.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Marco Teórico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Tecnologías y algoritmos clave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5/16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81328"/>
            <a:ext cx="116403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4533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Isolation Forest (IF)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Algoritmo de detección de anomalías basado en árboles de aislamiento. Asigna scores de anomalía a cada flujo: score cercano a −1 = muy anómalo, score cercano a 0 = normal. Entrenado solo con datos normales (one-class).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15768"/>
            <a:ext cx="116403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7977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Suricata 7.0.3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99816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Motor IDS/IPS open source. Captura flujos de red en formato eve.json con metadatos por flujo: bytes, paquetes, puertos, protocolo, duración. Opera en modo pasivo sobre la interfaz ens35 del sensor.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50208"/>
            <a:ext cx="116403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01421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ipset / iptables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34256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Mecanismo de control inline en el servidor (192.168.0.120). ppi_blocked (DROP) y ppi_limited (hashlimit 100pkt/s). Operaciones atómicas O(1) — no afectan latencia del motor.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84648"/>
            <a:ext cx="116403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24865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Youden Index (J = TPR − FPR)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568696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Criterio para seleccionar el umbral óptimo τ1. Maximiza la diferencia entre sensibilidad (TPR) y tasa de falsos positivos (FPR). Resultado: τ1 = −0.4459, TPR = 99.40%, FPR = 20.47%.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Topología del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5 máquinas virtuales — red 192.168.0.0/24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6/16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155448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20" y="1508760"/>
            <a:ext cx="320040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VM / 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508760"/>
            <a:ext cx="694944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5544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Función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65960"/>
            <a:ext cx="155448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0025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192.168.0.10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965960"/>
            <a:ext cx="320040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20025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Win 11         — Cliente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965960"/>
            <a:ext cx="694944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00253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Genera tráfico de usuario final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423160"/>
            <a:ext cx="1554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4597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192.168.0.20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20" y="2423160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20240" y="24597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Ubuntu Desktop — Administrador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2423160"/>
            <a:ext cx="69494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245973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Origen tráfico normal (Grupo A), Claude 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880360"/>
            <a:ext cx="155448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9169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192.168.0.100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2880360"/>
            <a:ext cx="320040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20240" y="29169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Kali Linux     — Atacante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2880360"/>
            <a:ext cx="694944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291693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Origen tráfico anómalo (Grupo B)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337560"/>
            <a:ext cx="1554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3741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192.168.0.110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20" y="3337560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0240" y="33741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Ubuntu Sensor  — IDS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74920" y="3337560"/>
            <a:ext cx="69494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337413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Suricata 7.0.3 en ens35, motor de decisión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794760"/>
            <a:ext cx="155448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8313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192.168.0.120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794760"/>
            <a:ext cx="320040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0240" y="38313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Ubuntu Server  — Servicio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794760"/>
            <a:ext cx="694944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0" y="383133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nginx:80, SSH:22, ipset ppi_blocked/limited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069080"/>
            <a:ext cx="1554480" cy="82296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4178808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Kali
.100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4069080"/>
            <a:ext cx="1554480" cy="82296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0" y="4178808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Desktop
.20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0" y="4069080"/>
            <a:ext cx="1554480" cy="82296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0" y="4178808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Sensor
.110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4069080"/>
            <a:ext cx="1554480" cy="8229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0" y="4178808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Motor IF
(sensor)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15600" y="4069080"/>
            <a:ext cx="1554480" cy="82296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0" y="4178808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Server
.120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20240" y="4434840"/>
            <a:ext cx="822960" cy="25400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97680" y="4434840"/>
            <a:ext cx="1005840" cy="25400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26280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0" y="4434840"/>
            <a:ext cx="1188720" cy="25400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01200" y="4434840"/>
            <a:ext cx="914400" cy="25400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84080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" y="5166360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Flujo de datos: tráfico → Suricata (eve.json) → Motor IF → decisión → ipset (server)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Pipeline de 6 fases (F1–F6)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7/16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91640"/>
            <a:ext cx="1691640" cy="15544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78308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Captura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56032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Suricata
eve.json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1691640"/>
            <a:ext cx="1691640" cy="15544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178308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56032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parser.py
14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1691640"/>
            <a:ext cx="1691640" cy="155448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178308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Modelado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56032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IsoForest
AUC=0.8998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691640"/>
            <a:ext cx="1691640" cy="155448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56032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motor_decision
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1691640"/>
            <a:ext cx="1691640" cy="155448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78308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256032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ipset
BLOCK/LIMIT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0" y="1691640"/>
            <a:ext cx="1691640" cy="15544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178308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Validación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6032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40 corridas
Disp=100%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474720"/>
            <a:ext cx="1154887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611880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[F1–F2]  Suricata captura flows en eve.json. parser.py extrae 14 features. etiquetar_limpiar.py deduplica y particiona en train/val/test (70/15/15 cronológico).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2793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[F3]  Isolation Forest (n=300, contamination=0.05) entrenado solo con flujos normales. auc_roc_umbrales.py deriva τ1/τ2 desde la curva ROC.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946904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[F4–F5]  motor_decision.py hace tail de eve.json en tiempo real. Por cada flujo: extrae features → score IF → compara τ1/τ2 → envía a enforce.sh → SSH al servidor → ipset add/del.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614416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[F6]  f6_corridas.py ejecuta 40 corridas en 4 grupos (Normal, Mixto, Reeval, Final). Mide Disponibilidad, ITL, Lead Time, Latencia.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Recolección y Procesamiento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F1–F2: Captura → 14 features por flujo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8/16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411480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Escenarios de tráfico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Grupo A — Normal (desde Desktop .20)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677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–A1 HTTP normal (curl/wget → :80)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6946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–A2 SSH legítimo (8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7121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–A3 Transferencia scp/wget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729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–A4 Tráfico sostenido mixto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7472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Grupo B — Anómalo (desde Kali .100)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7647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–B1 SYN Flood (hping3)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7822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–B2 Port Scan (nmap -sS)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997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–B3 UDP Flood (hping3 --udp)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817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–B4 ICMP Flood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–B5 HTTP Abuse (curl bucle)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8523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–B6 Brute Force SSH (hydra)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586984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Grupo C — Mixto (Desktop + Kali)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8873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–C1/C2/C3 simultáneos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463040"/>
            <a:ext cx="72237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15544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14 Features del modelo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192024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pkts_toserver, pkts_toclient, bytes_toserver, bytes_toclient,
duration, pkt_rate, byte_rate, pkt_ratio, byte_ratio,
avg_pkt_size, is_tcp, is_udp, is_icmp, dest_port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26974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Fuente: eve.json (Suricata) → campos app_proto, proto, flow, pkts, bytes, 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3977639"/>
            <a:ext cx="7223760" cy="25603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40690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Dataset final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5262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67,135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572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Flujos normales   (28 capturas Jun-02, 04, 15)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598,285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0474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Flujos anómalos   (13 capturas Jun-02, 04, 15)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4772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70/15/15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55229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Split train/val/test (cronológico)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952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53,708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99846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Flujos usados en entrenamiento del 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Modelo Isolation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F3: Entrenamiento y evaluación — AUC-ROC = 0.8998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9/16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81328"/>
            <a:ext cx="2194560" cy="109728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0.8998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AUC-ROC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481328"/>
            <a:ext cx="2194560" cy="10972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99.54%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Precisión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80" y="1481328"/>
            <a:ext cx="2194560" cy="10972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99.40%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481328"/>
            <a:ext cx="2194560" cy="10972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0.9947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46920" y="1481328"/>
            <a:ext cx="2194560" cy="109728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n_estim.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88920"/>
            <a:ext cx="49377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Hiperparámetros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91840"/>
            <a:ext cx="2286000" cy="402336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3756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Parámetro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291840"/>
            <a:ext cx="2286000" cy="402336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333756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Valor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94176"/>
            <a:ext cx="2286000" cy="402336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7307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n_estimators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3694176"/>
            <a:ext cx="2286000" cy="402336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37307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300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096512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13308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contamination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4096512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413308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498848"/>
            <a:ext cx="2286000" cy="402336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53542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random_state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498848"/>
            <a:ext cx="2286000" cy="402336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453542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93776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max_samples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0" y="4901184"/>
            <a:ext cx="2286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88920" y="493776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'auto'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303520"/>
            <a:ext cx="2286000" cy="402336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34009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sklearn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0" y="5303520"/>
            <a:ext cx="2286000" cy="402336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88920" y="534009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1.9.0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2788920"/>
            <a:ext cx="6400800" cy="37947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23560" y="28803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Separación de scores por clase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3337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Flujos normales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3337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−0.3965 ± 0.0753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0" y="36301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5"/>
                </a:solidFill>
              </a:rPr>
              <a:t>Score alto (cerca de 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0" y="4160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Flujos anómalos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4160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−0.5420 ± 0.0900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0" y="445312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5"/>
                </a:solidFill>
              </a:rPr>
              <a:t>Score bajo (cerca de −1)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0" y="4983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Δ separación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4983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0.1454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0" y="527608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5"/>
                </a:solidFill>
              </a:rPr>
              <a:t>Diferencia media entre clases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217920"/>
            <a:ext cx="11548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El modelo fue re-entrenado el 2026-06-16 con todos los datos disponibles
(28+13 archivos) corrigiendo bug de fecha hardcodeada — AUC mejoró de 0.8955 a 0.8998.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Umbrales de Decisión τ1 / τ2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Derivados de la curva ROC — criterios estadísticos justificados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10/16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1828800" cy="5029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Umbral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508760"/>
            <a:ext cx="1188720" cy="5029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Valor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508760"/>
            <a:ext cx="2743200" cy="5029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5544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Criterio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08760"/>
            <a:ext cx="960120" cy="5029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554480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TPR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508760"/>
            <a:ext cx="960120" cy="5029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1554480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FPR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508760"/>
            <a:ext cx="4297680" cy="5029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55448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Acción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011680"/>
            <a:ext cx="182880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048256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τ1 (PERMIT/LIMIT)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2011680"/>
            <a:ext cx="118872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204825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−0.4459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2011680"/>
            <a:ext cx="274320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204825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Youden J = TPR−FPR máximo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2011680"/>
            <a:ext cx="96012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2048256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99.40%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2011680"/>
            <a:ext cx="96012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2048256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20.47%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2011680"/>
            <a:ext cx="429768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2048256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score &gt; τ1 → PERMIT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514600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2551176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τ2 (LIMIT/BLOCK)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48840" y="251460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4560" y="255117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−0.6027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251460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255117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FPR ≤ 2% con TPR máximo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514600"/>
            <a:ext cx="960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2551176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18.27%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40880" y="2514600"/>
            <a:ext cx="960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2551176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1.99%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01000" y="2514600"/>
            <a:ext cx="42976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2551176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τ2 &lt; score ≤ τ1 → LIMIT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3017520"/>
            <a:ext cx="182880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054096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— (BLOCK)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48840" y="3017520"/>
            <a:ext cx="118872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94560" y="305409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≤ τ2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37560" y="3017520"/>
            <a:ext cx="274320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83280" y="305409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Anomalía confirmada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3017520"/>
            <a:ext cx="96012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26480" y="3054096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40880" y="3017520"/>
            <a:ext cx="96012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86600" y="3054096"/>
            <a:ext cx="868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01000" y="3017520"/>
            <a:ext cx="4297680" cy="50292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46720" y="3054096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score ≤ τ2 → BLOCK (DROP)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200400"/>
            <a:ext cx="5303520" cy="33375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Lógica del motor por flujo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74903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A623"/>
                </a:solidFill>
              </a:rPr>
              <a:t>1.  IP en whitelist? → IGNORAR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4096511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A623"/>
                </a:solidFill>
              </a:rPr>
              <a:t>2.  score &gt; −0.4459 (τ1)? → PERMIT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443983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A623"/>
                </a:solidFill>
              </a:rPr>
              <a:t>3.  score &gt; −0.6027 (τ2)? → LIMIT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791455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          hashlimit 100 pkt/s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38927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          ipset ppi_limited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48639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A623"/>
                </a:solidFill>
              </a:rPr>
              <a:t>4.  score ≤ −0.6027 → BLOCK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833871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          DROP iptables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81343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5"/>
                </a:solidFill>
              </a:rPr>
              <a:t>          ipset ppi_blocked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0" y="3200400"/>
            <a:ext cx="59436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80760" y="32918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¿Por qué FPR = 20.47% es aceptable?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3749039"/>
            <a:ext cx="5577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Reducir FPR a ≤ 5% requeriría τ1 = −0.5547.
Problema: SYN floods obtienen score ≈ −0.49.
Con τ1 = −0.555, los SYN floods serían PERMIT
(no detectados).
El Youden Index (τ1 = −0.4459) preserva
la detección de SYN Flood al costo de
falsos positivos en tráfico muy anómalo-looking.
Mitigación: whitelist de IPs conocidas
(Desktop .20, Sensor .110, Server .120).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Motor de Decisión en Tiempo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F4–F5: Latencia P95 = 34.8 ms  (&lt;500 ms requerido)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11/16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1463040" cy="100584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tail
eve.json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1600200"/>
            <a:ext cx="1463040" cy="100584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parser
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1600200"/>
            <a:ext cx="1463040" cy="100584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IF
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1600200"/>
            <a:ext cx="1463040" cy="100584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τ1/τ2
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600200"/>
            <a:ext cx="1463040" cy="100584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enforce
.sh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1600200"/>
            <a:ext cx="1463040" cy="100584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SSH
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4A99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40" y="1600200"/>
            <a:ext cx="1463040" cy="100584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17373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ipset
BLOCK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~1ms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~5ms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~25ms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~1ms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~1ms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~30ms SSH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~1ms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108960"/>
            <a:ext cx="5760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Detectores Heurísticos (complemento al IF)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657600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SSH Brute Force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986784"/>
            <a:ext cx="52120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–≥ 5 intentos / 60s → LIMIT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315968"/>
            <a:ext cx="52120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–≥ 15 intentos / 60s → BLOCK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645152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HTTP Abuse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974336"/>
            <a:ext cx="52120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–≥ 50 req / 30s → LIMIT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303520"/>
            <a:ext cx="52120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–≥ 100 req / 30s → BLOCK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632704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Ventana deslizante en memoria (deque)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61888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Opera EN PARALELO con el IF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108960"/>
            <a:ext cx="5577840" cy="34290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Métricas de rendimiento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36576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5"/>
                </a:solidFill>
              </a:rPr>
              <a:t>Latencia media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6576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E4F5"/>
                </a:solidFill>
              </a:rPr>
              <a:t>34.5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965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5"/>
                </a:solidFill>
              </a:rPr>
              <a:t>Latencia P95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40965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E4F5"/>
                </a:solidFill>
              </a:rPr>
              <a:t>34.8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53542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5"/>
                </a:solidFill>
              </a:rPr>
              <a:t>Umbral req.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45354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E4F5"/>
                </a:solidFill>
              </a:rPr>
              <a:t>&lt; 500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497433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5"/>
                </a:solidFill>
              </a:rPr>
              <a:t>Veredicto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2560" y="497433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CUMPLE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4132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5"/>
                </a:solidFill>
              </a:rPr>
              <a:t>Lead Time detec.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54132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E4F5"/>
                </a:solidFill>
              </a:rPr>
              <a:t>~62 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5852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5"/>
                </a:solidFill>
              </a:rPr>
              <a:t>Disponibilidad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5852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100%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Validación F6 — 40 Corridas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Metodología de validación experimental exhaustiva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12/16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81328"/>
            <a:ext cx="2194560" cy="118872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Disponibilidad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35000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corridas 1-40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481328"/>
            <a:ext cx="2194560" cy="118872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ITL Global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35000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sin interrupciones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481328"/>
            <a:ext cx="2194560" cy="11887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61.92s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Lead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35000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SYN Flood C11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1481328"/>
            <a:ext cx="2194560" cy="118872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34.8ms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Latencia P95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35000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req. &lt;500ms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1481328"/>
            <a:ext cx="2194560" cy="1188720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52704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0.8998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AUC-ROC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35000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req. ≥0.85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2834640"/>
            <a:ext cx="118872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880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Grupo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08760" y="2834640"/>
            <a:ext cx="128016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54480" y="2880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Corridas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2834640"/>
            <a:ext cx="539496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880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Descripción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80" y="2834640"/>
            <a:ext cx="4206240" cy="457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Resultado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291840"/>
            <a:ext cx="118872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32841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Normal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08760" y="3291840"/>
            <a:ext cx="128016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54480" y="33284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1–10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88920" y="3291840"/>
            <a:ext cx="539496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4640" y="332841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Solo tráfico legítimo (Desktop → Server)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80" y="3291840"/>
            <a:ext cx="420624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332841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Disponibilidad = 100%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3749040"/>
            <a:ext cx="1188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78561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Mixto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374904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54480" y="37856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11–20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88920" y="3749040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34640" y="378561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Tráfico normal + ataque simultáneo (C11=SYN)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83880" y="3749040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0" y="378561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Detección en 61.92s  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4206240"/>
            <a:ext cx="118872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24281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Reeval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08760" y="4206240"/>
            <a:ext cx="128016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54480" y="42428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21–30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88920" y="4206240"/>
            <a:ext cx="539496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424281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Re-evaluación post-bloqueo de 192.168.0.100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83880" y="4206240"/>
            <a:ext cx="4206240" cy="457200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424281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ITL = 0%, Kali bloq. 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4663440"/>
            <a:ext cx="1188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470001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Final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08760" y="466344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54480" y="47000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31–40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88920" y="4663440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470001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Escenario completo sistema en producción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83880" y="4663440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470001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Todas métricas OK   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0040" y="4919472"/>
            <a:ext cx="11548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Nota metodológica: corridas 12-40 muestran flows_anom=0 porque 192.168.0.100 permanece en el set in-memory 'bloqueados' tras la detección en corrida 11. Comportamiento CORRECTO — el atacante queda contenido sin reactivarse.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623560"/>
            <a:ext cx="11548872" cy="96012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687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Timeline de detección (corrida 11 — SYN Flood):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007608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t=0s  Motor iniciado  |  t≈60s  Suricata cierra flow TCP half-open  |  t=61.92s  IF score=−0.71 ≤ τ2  →  BLOCK aplicado vía ipset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Resultados vs.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Todos los criterios de aceptación CUMPLIDOS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13/16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840480" cy="438912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Métrica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508760"/>
            <a:ext cx="1828800" cy="438912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554480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Requisito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508760"/>
            <a:ext cx="1828800" cy="438912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554480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Resultado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1508760"/>
            <a:ext cx="4389120" cy="438912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554480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Estado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947672"/>
            <a:ext cx="384048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984248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AUC-ROC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947672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≥ 0.85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947672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1984248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0.8998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1947672"/>
            <a:ext cx="438912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1984248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38658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423160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Precisión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2386584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2423160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≥ 95%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2386584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2423160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99.54%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386584"/>
            <a:ext cx="4389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23160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825496"/>
            <a:ext cx="384048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2862072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Recall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2825496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286207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≥ 95%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2825496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286207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99.40%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2825496"/>
            <a:ext cx="438912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2862072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26440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300984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F1-Score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3264408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3300984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≥ 0.90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3264408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3300984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0.9947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18120" y="3264408"/>
            <a:ext cx="4389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3300984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3703320"/>
            <a:ext cx="384048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3739896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Latencia P95 por flujo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3703320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373989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&lt; 500 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3703320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739896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34.8 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3703320"/>
            <a:ext cx="438912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0" y="3739896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142232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4178808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Disponibilidad del servicio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60520" y="4142232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178808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≥ 99%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4142232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4178808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100%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18120" y="4142232"/>
            <a:ext cx="4389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178808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581144"/>
            <a:ext cx="384048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4617720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ITL (Interr. por Tiempo)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4581144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4617720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= 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89320" y="4581144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35040" y="4617720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18120" y="4581144"/>
            <a:ext cx="438912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863840" y="4617720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020056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5056632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Lead Time de detección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60520" y="5020056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06240" y="50566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&lt; 120 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89320" y="5020056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35040" y="50566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61.92 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18120" y="5020056"/>
            <a:ext cx="4389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63840" y="5056632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5458968"/>
            <a:ext cx="384048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95544"/>
            <a:ext cx="3749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Corridas exitosas F6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5458968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06240" y="5495544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40/40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9320" y="5458968"/>
            <a:ext cx="182880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035040" y="5495544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40/40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18120" y="5458968"/>
            <a:ext cx="4389120" cy="438912"/>
          </a:xfrm>
          <a:prstGeom prst="rect">
            <a:avLst/>
          </a:prstGeom>
          <a:solidFill>
            <a:srgbClr val="D6E4F5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863840" y="5495544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CUMPLE 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0040" y="6236208"/>
            <a:ext cx="11548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7C4A"/>
                </a:solidFill>
              </a:rPr>
              <a:t>TODOS LOS REQUISITOS CUMPLIDOS — El sistema es operacionalmente viable.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Dashboard de Monitoreo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Flask + SSE — Tiempo real en puerto 8080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14/16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475488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2"/>
                </a:solidFill>
              </a:rPr>
              <a:t>Características del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011680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Flask + Server-Sent Events (SSE)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5000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Actualización push sin polling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883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Endpoints REST: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26664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–/api/stats    → métricas globales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64992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–/api/stream   → eventos 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703320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–/api/alerts   → últimas 100 alertas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41648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–/api/block    → bloqueo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37997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–/api/unblock  → desbloqueo manual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718304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Sin memory leaks (validado &gt;22h)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056632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• Acceso: http://192.168.0.110:8080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463040"/>
            <a:ext cx="6583680" cy="51206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5087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C4A"/>
                </a:solidFill>
              </a:rPr>
              <a:t>◉  Dashboard PPI — Detección Anomalías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1920240"/>
            <a:ext cx="6400800" cy="8229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1938528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124,892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E4F5"/>
                </a:solidFill>
              </a:rPr>
              <a:t>Flows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1938528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8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E4F5"/>
                </a:solidFill>
              </a:rPr>
              <a:t>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86216" y="1938528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86216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E4F5"/>
                </a:solidFill>
              </a:rPr>
              <a:t>Blocked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1938528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22h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58984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E4F5"/>
                </a:solidFill>
              </a:rPr>
              <a:t>Uptime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2834640"/>
            <a:ext cx="6400800" cy="32004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285292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Alertas recientes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320040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C4A"/>
                </a:solidFill>
              </a:rPr>
              <a:t>[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356616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C4A"/>
                </a:solidFill>
              </a:rPr>
              <a:t>[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393192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C4A"/>
                </a:solidFill>
              </a:rPr>
              <a:t>[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94960" y="4343400"/>
            <a:ext cx="6400800" cy="1920240"/>
          </a:xfrm>
          <a:prstGeom prst="rect">
            <a:avLst/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0680" y="438912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5"/>
                </a:solidFill>
              </a:rPr>
              <a:t>Histograma de scores (últimas 5min)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5724144"/>
            <a:ext cx="457200" cy="493776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62472" y="5353812"/>
            <a:ext cx="457200" cy="8641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38544" y="5106924"/>
            <a:ext cx="457200" cy="1110996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14616" y="5477256"/>
            <a:ext cx="457200" cy="7406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90688" y="5847588"/>
            <a:ext cx="457200" cy="370332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66760" y="5230368"/>
            <a:ext cx="457200" cy="987552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42832" y="4983480"/>
            <a:ext cx="457200" cy="123444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18904" y="5600700"/>
            <a:ext cx="457200" cy="61722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094976" y="5724144"/>
            <a:ext cx="457200" cy="493776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71048" y="5477256"/>
            <a:ext cx="457200" cy="7406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Lo que se logró — impacto y contribución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15/16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457200" cy="8686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6733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1109167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6362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62"/>
                </a:solidFill>
              </a:rPr>
              <a:t>Sistema funcional 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874520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Se implementó y validó un pipeline completo: captura (Suricata) → preproceso → Isolation Forest → motor tiempo real → control inline (ipset). Todas las fases F1-F6 operativas en laboratorio real.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96312"/>
            <a:ext cx="457200" cy="8686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60904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496312"/>
            <a:ext cx="1109167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511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62"/>
                </a:solidFill>
              </a:rPr>
              <a:t>Métricas de calidad superiores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862072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AUC-ROC = 0.8998 (req. ≥ 0.85), Precisión = 99.54%, Recall = 99.40%, F1 = 0.9947. El modelo detecta anomalías con alta confianza sobre 14 features de capa de 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483864"/>
            <a:ext cx="457200" cy="8686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64845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483864"/>
            <a:ext cx="1109167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53872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62"/>
                </a:solidFill>
              </a:rPr>
              <a:t>Respuesta automática en tiempo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49624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Latencia P95 = 34.8ms (req. &lt;500ms, mejora de 14×). Lead Time de detección ≈ 62s limitado por el timeout de Suricata para flows TCP half-open.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471416"/>
            <a:ext cx="457200" cy="8686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63600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471416"/>
            <a:ext cx="1109167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526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62"/>
                </a:solidFill>
              </a:rPr>
              <a:t>Disponibilidad garantizada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837176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40/40 corridas con Disponibilidad = 100% e ITL = 0%. El mecanismo de whitelist previene auto-bloqueo del sistema.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458968"/>
            <a:ext cx="457200" cy="868680"/>
          </a:xfrm>
          <a:prstGeom prst="rect">
            <a:avLst/>
          </a:prstGeom>
          <a:solidFill>
            <a:srgbClr val="1A7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623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458968"/>
            <a:ext cx="1109167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51383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62"/>
                </a:solidFill>
              </a:rPr>
              <a:t>Defensa justificada del umbral FPR=20.47%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82472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Reducir FPR a ≤5% sacrificaría la detección de SYN Flood (score≈−0.49 &gt; τ1=−0.555). El índice de Youden es el umbral metodológicamente correcto en este contexto.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Trabajo Futuro  / 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4F5"/>
                </a:solidFill>
              </a:rPr>
              <a:t>Líneas de extensión del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4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PPI — UPeU 2026  |  Rubén Salazar Tocas  |  16/16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76072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D62"/>
                </a:solidFill>
              </a:rPr>
              <a:t>Trabajo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Extender whitelist dinámica (DHCP/LDAP)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86584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Re-entrenamiento incremental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Soporte multi-sensor (agente distribuido)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36392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Integración con SIEM (Wazuh / Elastic)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11296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Modelo híbrido: IF + Autoencoder LSTM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86200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Notificaciones automáticas (email/Slack)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61104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Reducción FPR via ensemble de modelos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36008"/>
            <a:ext cx="5394960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Despliegue en contenedor Docker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463040"/>
            <a:ext cx="5577840" cy="512064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8288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¿Preguntas?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834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4F5"/>
                </a:solidFill>
              </a:rPr>
              <a:t>Rubén Mark Salazar Tocas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246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A623"/>
                </a:solidFill>
              </a:rPr>
              <a:t>makosdfrs@gmail.com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31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Repositorio: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519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github.com/marksato13/PRODUCTO-_INGENIERL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92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5"/>
                </a:solidFill>
              </a:rPr>
              <a:t>Motor en línea: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212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http://192.168.0.110:8080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532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5A623"/>
                </a:solidFill>
              </a:rPr>
              <a:t>(Dashboard en vivo durante la defensa)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