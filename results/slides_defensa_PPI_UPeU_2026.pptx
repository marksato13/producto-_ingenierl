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6E4F5"/>
                </a:solidFill>
              </a:rPr>
              <a:t>UNIVERSIDAD PERUANA UNIÓN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1792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5"/>
                </a:solidFill>
              </a:rPr>
              <a:t>Facultad de Ingeniería y Arquitectura  ·  PPI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16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Sistema de Detección Temprana de
Comportamientos Anómalos en Redes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D6E4F5"/>
                </a:solidFill>
              </a:rPr>
              <a:t>Mediante Isolation Forest + Control Inline con iptables/ipset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114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Autor:     Rubén Mark Salazar Tocas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Asesor 1:  Ing. Nemias Saboya 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846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Asesor 2:  Ing. Fernando Manuel Asin Gomez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349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Estructura de la presentación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2/17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1.  Problema y motivación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2.  Objetivos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969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3.  Marco teórico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4.  Topología del laboratorio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5.  Arquitectura del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6.  Recolección y procesamiento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7.  Modelo Isolation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313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8.  Umbrales de decisión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9.  Motor de decisión en tiempo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013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10. Validación F6 — 40 corridas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3969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11. Resultados vs. requisitos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780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12. Dashboard de monitoreo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163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13. Módulo Predictor —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14. Conclusiones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93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15. Trabajo futuro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313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• 16. Preguntas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417320"/>
            <a:ext cx="11548872" cy="1905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Problema y 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¿Por qué es necesario este sistema?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3/17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Contexto universitario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5120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Redes abiertas con cientos de dispositivos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04288"/>
            <a:ext cx="5120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Tráfico legítimo mezclado con ataques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88336"/>
            <a:ext cx="5120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Sin mecanismo de detección automática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72384"/>
            <a:ext cx="5120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Respuesta manual lenta (minutos-horas)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Tipos de ataque presentes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77639"/>
            <a:ext cx="5120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SYN Flood — satura el servidor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97679"/>
            <a:ext cx="5120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Port Scan — reconocimiento de 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17719"/>
            <a:ext cx="5120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UDP/ICMP Flood — agota el ancho de banda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937759"/>
            <a:ext cx="5120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Brute Force SSH — compromete credenciales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257799"/>
            <a:ext cx="5120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HTTP Abuse — deniega el servicio 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5760720" cy="51663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El problema en números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103120"/>
            <a:ext cx="5029200" cy="86868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</a:rPr>
              <a:t>~62s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Lead Time sin detección automática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154680"/>
            <a:ext cx="5029200" cy="86868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375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Disponibilidad requerida del servicio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06240"/>
            <a:ext cx="5029200" cy="86868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</a:rP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389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Interrupción por Tiempo de Límite (ITL)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257800"/>
            <a:ext cx="5029200" cy="86868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5A623"/>
                </a:solidFill>
              </a:rPr>
              <a:t>&lt;500ms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440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Latencia máxima permitida por flujo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6126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A623"/>
                </a:solidFill>
              </a:rPr>
              <a:t>Propuesta: detección automática en tiempo real
con machine learning + control inline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General y específicos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4/17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1640312" cy="9601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OBJETIVO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Implementar y validar un sistema de detección temprana de comportamientos anómalos en redes de datos universitarias utilizando Isolation Forest, con control inline mediante iptables/ipset.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D62"/>
                </a:solidFill>
              </a:rPr>
              <a:t>OBJETIVOS ESPECÍFICOS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26080"/>
            <a:ext cx="11548872" cy="1905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868680" cy="658368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45536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F1–F2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08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Capturar y preprocesar tráfico real (normal + anómalo) con Suricata 7.0.3. Extraer 14 features por flujo.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868680" cy="658368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22776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86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Entrenar Isolation Forest (n=300) y derivar umbrales τ1/τ2 óptimos mediante curva ROC.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72000"/>
            <a:ext cx="868680" cy="658368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700016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F4–F5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634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Implementar motor de decisión en tiempo real con latencia &lt; 500 ms y control inline (ipset).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868680" cy="658368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77256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40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Validar el sistema con 40 corridas: Disponibilidad ≥ 99%, ITL = 0%, AUC-ROC ≥ 0.85.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Marco Teórico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Tecnologías y algoritmos clave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5/17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1164031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453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Isolation Forest (IF)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65376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Algoritmo de detección de anomalías basado en árboles de aislamiento. Asigna scores de anomalía a cada flujo: score cercano a −1 = muy anómalo, score cercano a 0 = normal. Entrenado solo con datos normales (one-class).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15768"/>
            <a:ext cx="1164031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797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Suricata 7.0.3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99816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Motor IDS/IPS open source. Captura flujos de red en formato eve.json con metadatos por flujo: bytes, paquetes, puertos, protocolo, duración. Opera en modo pasivo sobre la interfaz ens35 del sensor.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50208"/>
            <a:ext cx="1164031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ipset / iptables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34256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Mecanismo de control inline en el servidor (192.168.0.120). ppi_blocked (DROP) y ppi_limited (hashlimit 100pkt/s). Operaciones atómicas O(1) — no afectan latencia del motor.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184648"/>
            <a:ext cx="1164031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4865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Youden Index (J = TPR − FPR)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68696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Criterio para seleccionar el umbral óptimo τ1. Maximiza la diferencia entre sensibilidad (TPR) y tasa de falsos positivos (FPR). Resultado: τ1 = −0.4459, TPR = 99.40%, FPR = 20.47%.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Topología del Laboratorio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5 máquinas virtuales — red 192.168.0.0/24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6/17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554480" cy="457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20" y="1508760"/>
            <a:ext cx="3200400" cy="457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VM / 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508760"/>
            <a:ext cx="6949440" cy="457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554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Función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65960"/>
            <a:ext cx="155448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0025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192.168.0.10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20" y="1965960"/>
            <a:ext cx="320040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0025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Win 11         — Cliente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965960"/>
            <a:ext cx="694944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0025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Genera tráfico de usuario final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4597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192.168.0.20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20" y="242316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24597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Ubuntu Desktop — Administrador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2423160"/>
            <a:ext cx="6949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4597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Origen tráfico normal (Grupo A), Claude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80360"/>
            <a:ext cx="155448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169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192.168.0.100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20" y="2880360"/>
            <a:ext cx="320040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29169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Kali Linux     — Atacante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2880360"/>
            <a:ext cx="694944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29169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Origen tráfico anómalo (Grupo 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33756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3741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192.168.0.110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20" y="333756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33741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Ubuntu Sensor  — IDS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3337560"/>
            <a:ext cx="6949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3741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Suricata 7.0.3 en ens35, motor de decisión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794760"/>
            <a:ext cx="155448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8313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192.168.0.120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20" y="3794760"/>
            <a:ext cx="320040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383133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Ubuntu Server  — Servicio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3794760"/>
            <a:ext cx="694944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38313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nginx:80, SSH:22, ipset ppi_blocked/limited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069080"/>
            <a:ext cx="1554480" cy="8229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17880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Kali
.100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069080"/>
            <a:ext cx="1554480" cy="82296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0" y="417880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Desktop
.20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4069080"/>
            <a:ext cx="1554480" cy="82296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417880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Sensor
.110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4069080"/>
            <a:ext cx="1554480" cy="8229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417880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Motor IF
(sensor)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15600" y="4069080"/>
            <a:ext cx="1554480" cy="82296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0" y="417880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Server
.120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20240" y="4434840"/>
            <a:ext cx="822960" cy="254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4434840"/>
            <a:ext cx="1005840" cy="254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2628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4434840"/>
            <a:ext cx="1188720" cy="254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7804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4434840"/>
            <a:ext cx="914400" cy="254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0" y="4297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516636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Flujo de datos: tráfico → Suricata (eve.json) → Motor IF → decisión → ipset (server)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Pipeline de 6 fases (F1–F6)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7/17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1691640" cy="155448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Captura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603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5"/>
                </a:solidFill>
              </a:rPr>
              <a:t>Suricata
eve.json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691640"/>
            <a:ext cx="1691640" cy="155448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Captura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5603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5"/>
                </a:solidFill>
              </a:rPr>
              <a:t>3 grupos
.gz directo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691640"/>
            <a:ext cx="1691640" cy="15544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5603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5"/>
                </a:solidFill>
              </a:rPr>
              <a:t>IsoForest
AUC=0.8998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91640"/>
            <a:ext cx="1691640" cy="15544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5"/>
                </a:solidFill>
              </a:rPr>
              <a:t>motor_decision
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1691640"/>
            <a:ext cx="1691640" cy="155448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5603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5"/>
                </a:solidFill>
              </a:rPr>
              <a:t>ipset
BLOCK/LIMIT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40" y="1691640"/>
            <a:ext cx="1691640" cy="15544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21488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Validación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56032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5"/>
                </a:solidFill>
              </a:rPr>
              <a:t>40 corridas
Disp=100%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474720"/>
            <a:ext cx="1154887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61188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[F1–F2]  Suricata captura flows en eve.json. Captura separada: Grupo A=normal puro (Kali apagada), B=ataques puros (Desktop quieto), C=mixto (motor detenido). Los .gz son la fuente directa para F3 — sin CSVs intermedios.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2793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[F3]  Isolation Forest (n=300, contamination=0.05) entrenado solo con flujos normales. fase3_evaluar.py evalúa holdout 20% + Grupo B → ROC → τ1/τ2 → metricas_offline.txt (fuente única).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46904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[F4–F5]  motor_decision.py hace tail de eve.json en tiempo real. Por cada flujo: extrae features → score IF → compara τ1/τ2 → envía a enforce.sh → SSH al servidor → ipset add/del.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614416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[F6]  f6_corridas.py ejecuta 40 corridas en 4 grupos (Normal, Mixto, Reeval, Final). Mide Disponibilidad, ITL, Lead Time, Latencia.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Recolección y Procesamiento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F1–F2: Captura → 14 features por flujo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8/17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41148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Escenarios de tráfico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Grupo A — Normal (desde Desktop .20)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–A1 HTTP normal (curl/wget → :80)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946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–A2 SSH legítimo (8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7121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–A3 Transferencia scp/wget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7296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–A4 Tráfico sostenido mixto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747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Grupo B — Anómalo (desde Kali .100)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764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–B1 SYN Flood (hping3)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78224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–B2 Port Scan (nmap -sS)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7997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–B3 UDP Flood (hping3 --udp)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817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–B4 ICMP Flood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83480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–B5 HTTP Abuse (curl bucle)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8523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–B6 Brute Force SSH (hydra)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5869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Grupo C — Mixto (Desktop + Kali)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8873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–C1/C2/C3 simultáneos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463040"/>
            <a:ext cx="7223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1554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14 Features del 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19202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pkts_toserver, pkts_toclient, bytes_toserver, bytes_toclient,
duration, pkt_rate, byte_rate, pkt_ratio, byte_ratio,
avg_pkt_size, is_tcp, is_udp, is_icmp, dest_port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6974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Fuente: eve.json (Suricata) → campos app_proto, proto, flow, pkts, bytes, 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977639"/>
            <a:ext cx="7223760" cy="25603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4069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Dataset final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526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67,135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572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Flujos normales   (28 capturas Jun-02, 04, 15)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001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598,285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047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Flujos anómalos   (13 capturas Jun-02, 04, 15)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4772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80/20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5229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Split entrenamiento/holdout (aleatorio, seed=42)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9527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53,708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9984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Flujos usados en entrenamiento del 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Modelo Isolation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F3: Entrenamiento y evaluación — AUC-ROC = 0.8998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9/17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2194560" cy="10972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0.8998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481328"/>
            <a:ext cx="2194560" cy="10972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99.54%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Precisión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481328"/>
            <a:ext cx="2194560" cy="10972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99.40%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481328"/>
            <a:ext cx="2194560" cy="10972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0.9947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1481328"/>
            <a:ext cx="2194560" cy="109728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n_estim.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88920"/>
            <a:ext cx="4937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Hiperparámetros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2286000" cy="402336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3756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Parámetro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291840"/>
            <a:ext cx="2286000" cy="402336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333756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94176"/>
            <a:ext cx="228600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307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n_estimators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694176"/>
            <a:ext cx="228600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37307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300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096512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330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contamination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096512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41330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98848"/>
            <a:ext cx="228600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5354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random_state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498848"/>
            <a:ext cx="228600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45354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01184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93776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max_samples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4901184"/>
            <a:ext cx="2286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8920" y="493776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'auto'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303520"/>
            <a:ext cx="228600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34009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sklearn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5303520"/>
            <a:ext cx="228600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8920" y="534009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1.9.0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2788920"/>
            <a:ext cx="6400800" cy="37947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23560" y="28803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Separación de scores por clase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5"/>
                </a:solidFill>
              </a:rPr>
              <a:t>Flujos normales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−0.3965 ± 0.0753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363016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5"/>
                </a:solidFill>
              </a:rPr>
              <a:t>Score alto (cerca de 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5"/>
                </a:solidFill>
              </a:rPr>
              <a:t>Flujos anómalos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−0.5420 ± 0.0900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445312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5"/>
                </a:solidFill>
              </a:rPr>
              <a:t>Score bajo (cerca de −1)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5"/>
                </a:solidFill>
              </a:rPr>
              <a:t>Δ separación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0.1454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0" y="527608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5"/>
                </a:solidFill>
              </a:rPr>
              <a:t>Diferencia media entre clases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6217920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El modelo fue re-entrenado el 2026-06-16 con todos los datos disponibles
(28+13 archivos) corrigiendo bug de fecha hardcodeada — AUC mejoró de 0.8955 a 0.8998.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Umbrales de Decisión τ1 / τ2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Derivados de la curva ROC — criterios estadísticos justificados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10/17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82880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Umbral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508760"/>
            <a:ext cx="118872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554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508760"/>
            <a:ext cx="274320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544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Criterio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508760"/>
            <a:ext cx="96012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TPR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508760"/>
            <a:ext cx="96012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155448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FPR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508760"/>
            <a:ext cx="4297680" cy="5029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5544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Acción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11680"/>
            <a:ext cx="182880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04825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τ1 (PERMIT/LIMIT)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2011680"/>
            <a:ext cx="118872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04825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−0.4459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011680"/>
            <a:ext cx="274320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0482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Youden J = TPR−FPR máximo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011680"/>
            <a:ext cx="96012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048256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99.40%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2011680"/>
            <a:ext cx="96012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2048256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20.47%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2011680"/>
            <a:ext cx="429768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204825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score &gt; τ1 → PERMIT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5146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55117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τ2 (LIMIT/BLOCK)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48840" y="251460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255117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−0.6027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251460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255117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FPR ≤ 2% con TPR máximo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514600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2551176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18.27%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2514600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2551176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1.99%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2514600"/>
            <a:ext cx="4297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255117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τ2 &lt; score ≤ τ1 → LIMIT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017520"/>
            <a:ext cx="182880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0540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— (BLOCK)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48840" y="3017520"/>
            <a:ext cx="118872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94560" y="305409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≤ τ2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37560" y="3017520"/>
            <a:ext cx="274320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0" y="305409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Anomalía confirmada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3017520"/>
            <a:ext cx="96012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54096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3017520"/>
            <a:ext cx="96012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3054096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3017520"/>
            <a:ext cx="4297680" cy="50292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305409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score ≤ τ2 → BLOCK (DROP)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200400"/>
            <a:ext cx="5303520" cy="33375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Lógica del motor por flujo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7490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1.  IP en whitelist? → IGNORAR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09651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2.  score &gt; −0.4459 (τ1)? → PERMIT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44398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3.  score &gt; −0.6027 (τ2)? → LIMIT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79145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5"/>
                </a:solidFill>
              </a:rPr>
              <a:t>          hashlimit 100 pkt/s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38927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5"/>
                </a:solidFill>
              </a:rPr>
              <a:t>          ipset ppi_limited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48639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4.  score ≤ −0.6027 → BLOCK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83387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5"/>
                </a:solidFill>
              </a:rPr>
              <a:t>          DROP iptables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18134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5"/>
                </a:solidFill>
              </a:rPr>
              <a:t>          ipset ppi_blocked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3200400"/>
            <a:ext cx="59436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0760" y="3291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¿Por qué FPR = 20.47% es aceptable?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3749039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Reducir FPR a ≤ 5% requeriría τ1 = −0.5547.
Problema: SYN floods obtienen score ≈ −0.49.
Con τ1 = −0.555, los SYN floods serían PERMIT
(no detectados).
El Youden Index (τ1 = −0.4459) preserva
la detección de SYN Flood al costo de
falsos positivos en tráfico muy anómalo-looking.
Mitigación: whitelist de IPs conocidas
(Desktop .20, Sensor .110, Server .120).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Motor de Decisión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F4–F5: Latencia P95 = 34.8 ms  (&lt;500 ms requerido)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11/17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1463040" cy="100584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tail
eve.json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600200"/>
            <a:ext cx="1463040" cy="100584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7373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parser
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600200"/>
            <a:ext cx="1463040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7373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IF
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600200"/>
            <a:ext cx="1463040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17373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τ1/τ2
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600200"/>
            <a:ext cx="1463040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7373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enforce
.sh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600200"/>
            <a:ext cx="1463040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7373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SSH
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A99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1600200"/>
            <a:ext cx="1463040" cy="10058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7373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ipset
BLOCK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~1ms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~5ms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~25ms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~1ms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~1ms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~30ms SSH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~1ms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08960"/>
            <a:ext cx="57607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Detectores Heurísticos (complemento al IF)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57600"/>
            <a:ext cx="5394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SSH Brute Force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986784"/>
            <a:ext cx="5212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–≥ 5 intentos / 60s → LIMIT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315968"/>
            <a:ext cx="5212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–≥ 15 intentos / 60s → BLOCK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645152"/>
            <a:ext cx="5394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HTTP Abuse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974336"/>
            <a:ext cx="5212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–≥ 50 req / 30s → LIMIT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03520"/>
            <a:ext cx="52120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–≥ 100 req / 30s → BLOCK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632704"/>
            <a:ext cx="5394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Ventana deslizante en memoria (deque)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961888"/>
            <a:ext cx="5394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Opera EN PARALELO con el IF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108960"/>
            <a:ext cx="5577840" cy="34290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Métricas de rendimiento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Latencia media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657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5"/>
                </a:solidFill>
              </a:rPr>
              <a:t>34.5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0965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Latencia P95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096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5"/>
                </a:solidFill>
              </a:rPr>
              <a:t>34.8 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535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Umbral req.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535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5"/>
                </a:solidFill>
              </a:rPr>
              <a:t>&lt; 500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9743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Veredicto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49743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CUMPLE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413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Lead Time detec.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5413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5"/>
                </a:solidFill>
              </a:rPr>
              <a:t>~62 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852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Disponibilidad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5852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100%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Validación F6 — 40 Corridas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Metodología de validación experimental exhaustiva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12/17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2194560" cy="118872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Disponibilidad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500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corridas 1-40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481328"/>
            <a:ext cx="2194560" cy="118872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ITL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3500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sin interrupciones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481328"/>
            <a:ext cx="2194560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61.92s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500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SYN Flood C11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1481328"/>
            <a:ext cx="2194560" cy="118872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34.8ms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Latencia P95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3500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req. &lt;500ms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481328"/>
            <a:ext cx="2194560" cy="118872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52704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0.8998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1214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3500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req. ≥0.85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34640"/>
            <a:ext cx="1188720" cy="457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880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2834640"/>
            <a:ext cx="1280160" cy="457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2880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Corridas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2834640"/>
            <a:ext cx="5394960" cy="457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880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Descripción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2834640"/>
            <a:ext cx="4206240" cy="457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880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291840"/>
            <a:ext cx="118872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32841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Normal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8760" y="3291840"/>
            <a:ext cx="128016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332841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1–10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88920" y="3291840"/>
            <a:ext cx="539496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332841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Solo tráfico legítimo (Desktop → Server)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80" y="3291840"/>
            <a:ext cx="420624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32841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Disponibilidad = 100%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74904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78561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Mixto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374904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4480" y="378561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11–20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88920" y="374904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378561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Tráfico normal + ataque simultáneo (C11=SYN)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80" y="374904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378561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Detección en 61.92s 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206240"/>
            <a:ext cx="118872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24281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Reeval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08760" y="4206240"/>
            <a:ext cx="128016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54480" y="424281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21–30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88920" y="4206240"/>
            <a:ext cx="539496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424281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Re-evaluación post-bloqueo de 192.168.0.100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83880" y="4206240"/>
            <a:ext cx="4206240" cy="457200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424281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ITL = 0%, Kali bloq.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66344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70001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Final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08760" y="466344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54480" y="470001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31–40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88920" y="466344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470001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Escenario completo sistema en producción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83880" y="4663440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0" y="470001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Todas métricas OK   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4919472"/>
            <a:ext cx="11548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Nota metodológica: corridas 12-40 muestran flows_anom=0 porque 192.168.0.100 permanece en el set in-memory 'bloqueados' tras la detección en corrida 11. Comportamiento CORRECTO — el atacante queda contenido sin reactivarse.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623560"/>
            <a:ext cx="11548872" cy="9601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687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Timeline de detección (corrida 11 — SYN Flood):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007608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t=0s  Motor iniciado  |  t≈60s  Suricata cierra flow TCP half-open  |  t=61.92s  IF score=−0.71 ≤ τ2  →  BLOCK aplicado vía ipset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vs.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Todos los criterios de aceptación CUMPLIDOS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13/17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840480" cy="43891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508760"/>
            <a:ext cx="1828800" cy="43891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55448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Requisito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508760"/>
            <a:ext cx="1828800" cy="43891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508760"/>
            <a:ext cx="4389120" cy="438912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55448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Estado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47672"/>
            <a:ext cx="384048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84248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AUC-ROC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947672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98424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≥ 0.85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947672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98424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0.8998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1947672"/>
            <a:ext cx="438912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198424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38658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42316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Precisión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386584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242316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≥ 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386584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242316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99.54%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386584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42316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825496"/>
            <a:ext cx="384048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862072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2825496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86207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≥ 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825496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286207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99.40%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2825496"/>
            <a:ext cx="438912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2862072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26440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300984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F1-Score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326440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30098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≥ 0.90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26440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330098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0.9947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3264408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3300984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703320"/>
            <a:ext cx="384048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3739896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Latencia P95 por flujo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3703320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373989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&lt; 500 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3703320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3739896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34.8 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8120" y="3703320"/>
            <a:ext cx="438912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0" y="3739896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142232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178808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Disponibilidad del servicio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414223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41788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≥ 99%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414223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4178808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18120" y="414223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0" y="4178808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581144"/>
            <a:ext cx="384048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4617720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ITL (Interr. por Tiempo)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60520" y="4581144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0" y="46177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= 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89320" y="4581144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35040" y="4617720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4581144"/>
            <a:ext cx="438912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3840" y="4617720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020056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5056632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Lead Time de detección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60520" y="5020056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06240" y="50566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&lt; 120 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89320" y="5020056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35040" y="50566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61.92 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18120" y="5020056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40" y="5056632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458968"/>
            <a:ext cx="384048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5495544"/>
            <a:ext cx="3749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Corridas exitosas F6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60520" y="5458968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06240" y="549554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40/40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89320" y="5458968"/>
            <a:ext cx="182880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0" y="549554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40/40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18120" y="5458968"/>
            <a:ext cx="4389120" cy="43891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63840" y="5495544"/>
            <a:ext cx="4297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CUMPLE 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0040" y="6236208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C4A"/>
                </a:solidFill>
              </a:rPr>
              <a:t>TODOS LOS REQUISITOS CUMPLIDOS — El sistema es operacionalmente viable.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de Monitoreo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Flask + SSE — Tiempo real en puerto 8080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14/17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47548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2"/>
                </a:solidFill>
              </a:rPr>
              <a:t>Características del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Flask + Server-Sent Events (SSE)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5000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Actualización push sin polling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88336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Endpoints REST: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2666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–/api/stats    → métricas globales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6499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–/api/stream   → eventos 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–/api/alerts   → últimas 100 alertas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4164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–/api/block    → bloqueo 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7997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 –/api/unblock  → desbloqueo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718304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Sin memory leaks (validado &gt;22h)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0566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Acceso: http://192.168.0.110:8080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463040"/>
            <a:ext cx="6583680" cy="5120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508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C4A"/>
                </a:solidFill>
              </a:rPr>
              <a:t>◉  Dashboard PPI — Detección Anomalías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1920240"/>
            <a:ext cx="6400800" cy="8229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19385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124,892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4F5"/>
                </a:solidFill>
              </a:rPr>
              <a:t>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19385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4F5"/>
                </a:solidFill>
              </a:rPr>
              <a:t>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19385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6216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4F5"/>
                </a:solidFill>
              </a:rPr>
              <a:t>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8984" y="19385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22h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58984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4F5"/>
                </a:solidFill>
              </a:rPr>
              <a:t>Uptime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2834640"/>
            <a:ext cx="6400800" cy="3200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852928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Alertas recientes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20040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C4A"/>
                </a:solidFill>
              </a:rPr>
              <a:t>[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56616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C4A"/>
                </a:solidFill>
              </a:rPr>
              <a:t>[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931920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C4A"/>
                </a:solidFill>
              </a:rPr>
              <a:t>[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4343400"/>
            <a:ext cx="6400800" cy="192024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40680" y="438912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5"/>
                </a:solidFill>
              </a:rPr>
              <a:t>Histograma de scores (últimas 5min)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5724144"/>
            <a:ext cx="457200" cy="493776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62472" y="5353812"/>
            <a:ext cx="457200" cy="8641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38544" y="5106924"/>
            <a:ext cx="457200" cy="1110996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14616" y="5477256"/>
            <a:ext cx="457200" cy="7406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90688" y="5847588"/>
            <a:ext cx="457200" cy="370332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66760" y="5230368"/>
            <a:ext cx="457200" cy="98755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42832" y="4983480"/>
            <a:ext cx="457200" cy="12344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18904" y="5600700"/>
            <a:ext cx="457200" cy="61722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94976" y="5724144"/>
            <a:ext cx="457200" cy="493776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71048" y="5477256"/>
            <a:ext cx="457200" cy="7406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Módulo Predictor Temporal —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Anticipación predictiva integrada al motor IF (proceso paralelo)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15/17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2"/>
                </a:solidFill>
              </a:rPr>
              <a:t>Señal predictiva — gap entre estadísticas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Motor escribe stats cada 500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67712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Normal:  gap ~ 174s   (tráfico bajo)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15184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Ataque:  gap ~  17s   (10× más rápido)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62656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Predictor mide cuánto tarda la próxima 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→ detecta aceleración ANTES del 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246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2"/>
                </a:solidFill>
              </a:rPr>
              <a:t>Modelo seleccionado — XGBoost (AUC=0.58)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ARIMA:        AUC=0.50  (descartado)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05072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Random Forest: AUC=0.48  (descartado)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52544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XGBoost:      AUC=0.58  ✓ ELEGIDO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0016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scale_pos_weight compensa desbalance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47488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P ≥ 0.70  →  ALERTA-PREDICTIVA (log + SSE)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417320"/>
            <a:ext cx="5943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5087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2"/>
                </a:solidFill>
              </a:rPr>
              <a:t>Corridas de validación (P4-P10)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920240"/>
            <a:ext cx="1280160" cy="329184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96596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Corrida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1920240"/>
            <a:ext cx="1280160" cy="329184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196596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9640" y="1920240"/>
            <a:ext cx="2011680" cy="329184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9659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61320" y="1920240"/>
            <a:ext cx="1097280" cy="329184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19659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249424"/>
            <a:ext cx="128016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2860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2249424"/>
            <a:ext cx="128016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228600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Ataque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2249424"/>
            <a:ext cx="201168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22860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ALERTA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61320" y="2249424"/>
            <a:ext cx="109728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0" y="228600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81.43%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578608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261518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2578608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261518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Ataque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2578608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261518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ALERTA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61320" y="2578608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07040" y="261518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83.46%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2907792"/>
            <a:ext cx="128016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294436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80" y="2907792"/>
            <a:ext cx="128016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294436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Normal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2907792"/>
            <a:ext cx="201168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0" y="294436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Sin alerta 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61320" y="2907792"/>
            <a:ext cx="109728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07040" y="29443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3236976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327355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69480" y="3236976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327355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Normal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49640" y="3236976"/>
            <a:ext cx="2011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327355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Sin alerta 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61320" y="3236976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07040" y="327355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3566160"/>
            <a:ext cx="128016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360273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P9-P10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69480" y="3566160"/>
            <a:ext cx="128016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0" y="360273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Normal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49640" y="3566160"/>
            <a:ext cx="201168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95360" y="36027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Sin alerta 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61320" y="3566160"/>
            <a:ext cx="1097280" cy="32918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607040" y="360273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0" y="4572000"/>
            <a:ext cx="5943600" cy="20116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0760" y="46177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Métricas del predictor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89320" y="4983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  TPR ataques: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0684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2/2 = 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89320" y="5367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  FPR normal: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06840" y="5367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0/4 = 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89320" y="5751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  P media ataque: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06840" y="5751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82.4%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89320" y="61356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5"/>
                </a:solidFill>
              </a:rPr>
              <a:t>  Servicios: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6840" y="6135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3 activos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Lo que se logró — impacto y contribución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16/17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457200" cy="8686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73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508760"/>
            <a:ext cx="110916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6362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2"/>
                </a:solidFill>
              </a:rPr>
              <a:t>Sistema funcional 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74520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Se implementó y validó un pipeline completo: captura (Suricata) → preproceso → Isolation Forest → motor tiempo real → control inline (ipset). Todas las fases F1-F6 operativas en laboratorio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96312"/>
            <a:ext cx="457200" cy="8686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66090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496312"/>
            <a:ext cx="110916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55117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2"/>
                </a:solidFill>
              </a:rPr>
              <a:t>Métricas de calidad superiores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620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AUC-ROC = 0.8998 (req. ≥ 0.85), Precisión = 99.54%, Recall = 99.40%, F1 = 0.9947. El modelo detecta anomalías con alta confianza sobre 14 features de capa de 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83864"/>
            <a:ext cx="457200" cy="8686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64845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83864"/>
            <a:ext cx="110916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387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2"/>
                </a:solidFill>
              </a:rPr>
              <a:t>Respuesta automática en tiempo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49624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Latencia P95 = 34.8ms (req. &lt;500ms, mejora de 14×). Lead Time de detección ≈ 62s limitado por el timeout de Suricata para flows TCP half-open.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71416"/>
            <a:ext cx="457200" cy="8686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6360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471416"/>
            <a:ext cx="110916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26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2"/>
                </a:solidFill>
              </a:rPr>
              <a:t>Disponibilidad garantizada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37176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40/40 corridas con Disponibilidad = 100% e ITL = 0%. El mecanismo de whitelist previene auto-bloqueo del sistema.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58968"/>
            <a:ext cx="457200" cy="868680"/>
          </a:xfrm>
          <a:prstGeom prst="rect">
            <a:avLst/>
          </a:prstGeom>
          <a:solidFill>
            <a:srgbClr val="1A7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623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458968"/>
            <a:ext cx="110916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138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2"/>
                </a:solidFill>
              </a:rPr>
              <a:t>Defensa justificada del umbral FPR=20.47%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82472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Reducir FPR a ≤5% sacrificaría la detección de SYN Flood (score≈−0.49 &gt; τ1=−0.555). El índice de Youden es el umbral metodológicamente correcto en este contexto.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Trabajo Futuro  / 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5"/>
                </a:solidFill>
              </a:rPr>
              <a:t>Líneas de extensión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PPI — UPeU 2026  |  Rubén Salazar Tocas  |  17/17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7607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D62"/>
                </a:solidFill>
              </a:rPr>
              <a:t>Trabajo 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949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Ensemble IF + AE (AND gate): FPR -49%, F1 +4.8pp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4"/>
            <a:ext cx="53949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Re-entrenamiento incremental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61488"/>
            <a:ext cx="53949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Extender whitelist dinámica (DHCP/LDAP)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36392"/>
            <a:ext cx="53949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Soporte multi-sensor (agente distribuido)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11296"/>
            <a:ext cx="53949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Integración con SIEM (Wazuh / Elastic)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53949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Notificaciones automáticas (email/Slack)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61104"/>
            <a:ext cx="53949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Predictor con ventana de series temporales (LSTM)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36008"/>
            <a:ext cx="539496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• Despliegue en contenedor Docker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5577840" cy="51206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28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5"/>
                </a:solidFill>
              </a:rPr>
              <a:t>Rubén Mark Salazar Tocas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46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makosdfrs@gmail.com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5"/>
                </a:solidFill>
              </a:rPr>
              <a:t>Repositorio: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51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github.com/marksato13/PRODUCTO-_INGENIERL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92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5"/>
                </a:solidFill>
              </a:rPr>
              <a:t>Motor en línea: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212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http://192.168.0.110:8080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532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5A623"/>
                </a:solidFill>
              </a:rPr>
              <a:t>(Dashboard en vivo durante la defensa)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