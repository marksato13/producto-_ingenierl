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24"/>
    <p:sldId id="260" r:id="rId6"/>
    <p:sldId id="265" r:id="rId25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DM Sans" panose="020B0604020202020204" charset="0"/>
      <p:regular r:id="rId14"/>
    </p:embeddedFont>
    <p:embeddedFont>
      <p:font typeface="DM Sans Bold" panose="020B0604020202020204" charset="0"/>
      <p:regular r:id="rId15"/>
    </p:embeddedFont>
    <p:embeddedFont>
      <p:font typeface="Myriad Light" panose="020B0604020202020204" charset="0"/>
      <p:regular r:id="rId16"/>
    </p:embeddedFont>
    <p:embeddedFont>
      <p:font typeface="Open Sauce" panose="020B0604020202020204" charset="0"/>
      <p:regular r:id="rId17"/>
    </p:embeddedFont>
    <p:embeddedFont>
      <p:font typeface="Prompt Bold" panose="020B0604020202020204" charset="-34"/>
      <p:regular r:id="rId18"/>
    </p:embeddedFont>
    <p:embeddedFont>
      <p:font typeface="Prompt Light" panose="020B0604020202020204" charset="-3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9.xml"/><Relationship Id="rId2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9310" y="-83973"/>
            <a:ext cx="12197791" cy="12185950"/>
            <a:chOff x="0" y="0"/>
            <a:chExt cx="890190" cy="889326"/>
          </a:xfrm>
        </p:grpSpPr>
        <p:sp>
          <p:nvSpPr>
            <p:cNvPr id="3" name="Freeform 3"/>
            <p:cNvSpPr/>
            <p:nvPr/>
          </p:nvSpPr>
          <p:spPr>
            <a:xfrm flipH="1">
              <a:off x="26308" y="26272"/>
              <a:ext cx="837574" cy="836782"/>
            </a:xfrm>
            <a:custGeom>
              <a:avLst/>
              <a:gdLst/>
              <a:ahLst/>
              <a:cxnLst/>
              <a:rect l="l" t="t" r="r" b="b"/>
              <a:pathLst>
                <a:path w="837574" h="836782">
                  <a:moveTo>
                    <a:pt x="373885" y="18586"/>
                  </a:moveTo>
                  <a:lnTo>
                    <a:pt x="18594" y="373533"/>
                  </a:lnTo>
                  <a:cubicBezTo>
                    <a:pt x="6689" y="385426"/>
                    <a:pt x="0" y="401564"/>
                    <a:pt x="0" y="418391"/>
                  </a:cubicBezTo>
                  <a:cubicBezTo>
                    <a:pt x="0" y="435219"/>
                    <a:pt x="6689" y="451356"/>
                    <a:pt x="18594" y="463249"/>
                  </a:cubicBezTo>
                  <a:lnTo>
                    <a:pt x="373885" y="818196"/>
                  </a:lnTo>
                  <a:cubicBezTo>
                    <a:pt x="398691" y="842978"/>
                    <a:pt x="438883" y="842978"/>
                    <a:pt x="463689" y="818196"/>
                  </a:cubicBezTo>
                  <a:lnTo>
                    <a:pt x="818981" y="463249"/>
                  </a:lnTo>
                  <a:cubicBezTo>
                    <a:pt x="830885" y="451356"/>
                    <a:pt x="837574" y="435219"/>
                    <a:pt x="837574" y="418391"/>
                  </a:cubicBezTo>
                  <a:cubicBezTo>
                    <a:pt x="837574" y="401564"/>
                    <a:pt x="830885" y="385426"/>
                    <a:pt x="818981" y="373533"/>
                  </a:cubicBezTo>
                  <a:lnTo>
                    <a:pt x="463689" y="18586"/>
                  </a:lnTo>
                  <a:cubicBezTo>
                    <a:pt x="438883" y="-6195"/>
                    <a:pt x="398691" y="-6195"/>
                    <a:pt x="373885" y="1858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2854028" y="7144544"/>
            <a:ext cx="19970002" cy="9914866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8687" y="0"/>
              <a:ext cx="1520200" cy="760215"/>
            </a:xfrm>
            <a:custGeom>
              <a:avLst/>
              <a:gdLst/>
              <a:ahLst/>
              <a:cxnLst/>
              <a:rect l="l" t="t" r="r" b="b"/>
              <a:pathLst>
                <a:path w="1520200" h="760215">
                  <a:moveTo>
                    <a:pt x="782658" y="750917"/>
                  </a:moveTo>
                  <a:lnTo>
                    <a:pt x="1516329" y="22399"/>
                  </a:lnTo>
                  <a:cubicBezTo>
                    <a:pt x="1520095" y="18659"/>
                    <a:pt x="1521233" y="13017"/>
                    <a:pt x="1519211" y="8109"/>
                  </a:cubicBezTo>
                  <a:cubicBezTo>
                    <a:pt x="1517188" y="3202"/>
                    <a:pt x="1512405" y="0"/>
                    <a:pt x="1507097" y="0"/>
                  </a:cubicBezTo>
                  <a:lnTo>
                    <a:pt x="13103" y="0"/>
                  </a:lnTo>
                  <a:cubicBezTo>
                    <a:pt x="7795" y="0"/>
                    <a:pt x="3012" y="3202"/>
                    <a:pt x="989" y="8109"/>
                  </a:cubicBezTo>
                  <a:cubicBezTo>
                    <a:pt x="-1034" y="13017"/>
                    <a:pt x="104" y="18659"/>
                    <a:pt x="3871" y="22399"/>
                  </a:cubicBezTo>
                  <a:lnTo>
                    <a:pt x="737542" y="750917"/>
                  </a:lnTo>
                  <a:cubicBezTo>
                    <a:pt x="750026" y="763314"/>
                    <a:pt x="770174" y="763314"/>
                    <a:pt x="782658" y="750917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27134" y="-6493362"/>
            <a:ext cx="18788758" cy="9328392"/>
            <a:chOff x="0" y="0"/>
            <a:chExt cx="1557574" cy="773317"/>
          </a:xfrm>
        </p:grpSpPr>
        <p:sp>
          <p:nvSpPr>
            <p:cNvPr id="8" name="Freeform 8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6227020" y="8157644"/>
            <a:ext cx="2647400" cy="0"/>
          </a:xfrm>
          <a:prstGeom prst="line">
            <a:avLst/>
          </a:prstGeom>
          <a:ln w="66675" cap="rnd">
            <a:solidFill>
              <a:srgbClr val="00386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64054" y="7889327"/>
            <a:ext cx="4999680" cy="42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6"/>
              </a:lnSpc>
            </a:pPr>
            <a:r>
              <a:rPr lang="en-US" sz="12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Rubén Mark Salazar Tocas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Asesor: Ing. Nemias Saboya Rios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Co-asesor: Ing. Fernando Manuel Asin Gomez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PPI — Ingeniería de Sistemas  ·  Junio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7068" y="3956263"/>
            <a:ext cx="8926159" cy="160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75"/>
              </a:lnSpc>
            </a:pPr>
            <a:r>
              <a:rPr lang="en-US" sz="2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Sistema de Detección Temprana de</a:t>
            </a:r>
          </a:p>
          <a:p>
            <a:pPr marL="0" lvl="0" indent="0" algn="ctr">
              <a:lnSpc>
                <a:spcPts val="6075"/>
              </a:lnSpc>
            </a:pPr>
            <a:r>
              <a:rPr lang="en-US" sz="2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Comportamientos Anómalos en Redes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de Datos mediante Isolation Forest</a:t>
            </a:r>
          </a:p>
        </p:txBody>
      </p:sp>
      <p:grpSp>
        <p:nvGrpSpPr>
          <p:cNvPr id="13" name="Group 13"/>
          <p:cNvGrpSpPr/>
          <p:nvPr/>
        </p:nvGrpSpPr>
        <p:grpSpPr>
          <a:xfrm rot="2700000">
            <a:off x="11480643" y="2031116"/>
            <a:ext cx="2254596" cy="2254596"/>
            <a:chOff x="0" y="0"/>
            <a:chExt cx="593803" cy="5938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3803" cy="593803"/>
            </a:xfrm>
            <a:custGeom>
              <a:avLst/>
              <a:gdLst/>
              <a:ahLst/>
              <a:cxnLst/>
              <a:rect l="l" t="t" r="r" b="b"/>
              <a:pathLst>
                <a:path w="593803" h="593803">
                  <a:moveTo>
                    <a:pt x="161390" y="0"/>
                  </a:moveTo>
                  <a:lnTo>
                    <a:pt x="432413" y="0"/>
                  </a:lnTo>
                  <a:cubicBezTo>
                    <a:pt x="475216" y="0"/>
                    <a:pt x="516266" y="17004"/>
                    <a:pt x="546533" y="47270"/>
                  </a:cubicBezTo>
                  <a:cubicBezTo>
                    <a:pt x="576800" y="77537"/>
                    <a:pt x="593803" y="118587"/>
                    <a:pt x="593803" y="161390"/>
                  </a:cubicBezTo>
                  <a:lnTo>
                    <a:pt x="593803" y="432413"/>
                  </a:lnTo>
                  <a:cubicBezTo>
                    <a:pt x="593803" y="475216"/>
                    <a:pt x="576800" y="516266"/>
                    <a:pt x="546533" y="546533"/>
                  </a:cubicBezTo>
                  <a:cubicBezTo>
                    <a:pt x="516266" y="576800"/>
                    <a:pt x="475216" y="593803"/>
                    <a:pt x="432413" y="593803"/>
                  </a:cubicBezTo>
                  <a:lnTo>
                    <a:pt x="161390" y="593803"/>
                  </a:lnTo>
                  <a:cubicBezTo>
                    <a:pt x="118587" y="593803"/>
                    <a:pt x="77537" y="576800"/>
                    <a:pt x="47270" y="546533"/>
                  </a:cubicBezTo>
                  <a:cubicBezTo>
                    <a:pt x="17004" y="516266"/>
                    <a:pt x="0" y="475216"/>
                    <a:pt x="0" y="432413"/>
                  </a:cubicBezTo>
                  <a:lnTo>
                    <a:pt x="0" y="161390"/>
                  </a:lnTo>
                  <a:cubicBezTo>
                    <a:pt x="0" y="118587"/>
                    <a:pt x="17004" y="77537"/>
                    <a:pt x="47270" y="47270"/>
                  </a:cubicBezTo>
                  <a:cubicBezTo>
                    <a:pt x="77537" y="17004"/>
                    <a:pt x="118587" y="0"/>
                    <a:pt x="161390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93803" cy="63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7893" y="9754407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495249" y="423743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501234" y="376370"/>
            <a:ext cx="635936" cy="583117"/>
            <a:chOff x="0" y="0"/>
            <a:chExt cx="1791183" cy="1642402"/>
          </a:xfrm>
        </p:grpSpPr>
        <p:sp>
          <p:nvSpPr>
            <p:cNvPr id="19" name="Freeform 19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22707" y="959487"/>
            <a:ext cx="992991" cy="281733"/>
            <a:chOff x="0" y="0"/>
            <a:chExt cx="1323988" cy="375643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sp>
        <p:nvSpPr>
          <p:cNvPr id="32" name="TextBox 32"/>
          <p:cNvSpPr txBox="1"/>
          <p:nvPr/>
        </p:nvSpPr>
        <p:spPr>
          <a:xfrm>
            <a:off x="1615756" y="395168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5756" y="815651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37803" y="815651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7893" y="1264469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23663" y="-7896"/>
            <a:ext cx="5818935" cy="4378791"/>
            <a:chOff x="0" y="0"/>
            <a:chExt cx="1027653" cy="773317"/>
          </a:xfrm>
        </p:grpSpPr>
        <p:sp>
          <p:nvSpPr>
            <p:cNvPr id="3" name="Freeform 3"/>
            <p:cNvSpPr/>
            <p:nvPr/>
          </p:nvSpPr>
          <p:spPr>
            <a:xfrm>
              <a:off x="50603" y="0"/>
              <a:ext cx="926448" cy="714821"/>
            </a:xfrm>
            <a:custGeom>
              <a:avLst/>
              <a:gdLst/>
              <a:ahLst/>
              <a:cxnLst/>
              <a:rect l="l" t="t" r="r" b="b"/>
              <a:pathLst>
                <a:path w="926448" h="714821">
                  <a:moveTo>
                    <a:pt x="523601" y="682448"/>
                  </a:moveTo>
                  <a:lnTo>
                    <a:pt x="916673" y="90869"/>
                  </a:lnTo>
                  <a:cubicBezTo>
                    <a:pt x="928603" y="72914"/>
                    <a:pt x="929691" y="49853"/>
                    <a:pt x="919505" y="30854"/>
                  </a:cubicBezTo>
                  <a:cubicBezTo>
                    <a:pt x="909319" y="11856"/>
                    <a:pt x="889509" y="0"/>
                    <a:pt x="867952" y="0"/>
                  </a:cubicBezTo>
                  <a:lnTo>
                    <a:pt x="58496" y="0"/>
                  </a:lnTo>
                  <a:cubicBezTo>
                    <a:pt x="36939" y="0"/>
                    <a:pt x="17129" y="11856"/>
                    <a:pt x="6943" y="30854"/>
                  </a:cubicBezTo>
                  <a:cubicBezTo>
                    <a:pt x="-3244" y="49853"/>
                    <a:pt x="-2156" y="72914"/>
                    <a:pt x="9774" y="90869"/>
                  </a:cubicBezTo>
                  <a:lnTo>
                    <a:pt x="402847" y="682448"/>
                  </a:lnTo>
                  <a:cubicBezTo>
                    <a:pt x="416282" y="702668"/>
                    <a:pt x="438947" y="714821"/>
                    <a:pt x="463224" y="714821"/>
                  </a:cubicBezTo>
                  <a:cubicBezTo>
                    <a:pt x="487501" y="714821"/>
                    <a:pt x="510166" y="702668"/>
                    <a:pt x="523601" y="68244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60571" y="17137"/>
              <a:ext cx="70651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2629220" y="4653647"/>
            <a:ext cx="5904711" cy="5389210"/>
            <a:chOff x="0" y="0"/>
            <a:chExt cx="1142063" cy="1042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2063" cy="1042357"/>
            </a:xfrm>
            <a:custGeom>
              <a:avLst/>
              <a:gdLst/>
              <a:ahLst/>
              <a:cxnLst/>
              <a:rect l="l" t="t" r="r" b="b"/>
              <a:pathLst>
                <a:path w="1142063" h="1042357">
                  <a:moveTo>
                    <a:pt x="1142063" y="1042357"/>
                  </a:moveTo>
                  <a:lnTo>
                    <a:pt x="0" y="1042357"/>
                  </a:lnTo>
                  <a:lnTo>
                    <a:pt x="0" y="0"/>
                  </a:lnTo>
                  <a:lnTo>
                    <a:pt x="1142063" y="1042357"/>
                  </a:lnTo>
                  <a:close/>
                </a:path>
              </a:pathLst>
            </a:custGeom>
            <a:solidFill>
              <a:srgbClr val="12315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83079"/>
              <a:ext cx="571032" cy="55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605392"/>
            <a:ext cx="18276180" cy="695215"/>
            <a:chOff x="0" y="0"/>
            <a:chExt cx="4813480" cy="1831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3479" cy="183102"/>
            </a:xfrm>
            <a:custGeom>
              <a:avLst/>
              <a:gdLst/>
              <a:ahLst/>
              <a:cxnLst/>
              <a:rect l="l" t="t" r="r" b="b"/>
              <a:pathLst>
                <a:path w="4813479" h="183102">
                  <a:moveTo>
                    <a:pt x="0" y="0"/>
                  </a:moveTo>
                  <a:lnTo>
                    <a:pt x="4813479" y="0"/>
                  </a:lnTo>
                  <a:lnTo>
                    <a:pt x="4813479" y="183102"/>
                  </a:lnTo>
                  <a:lnTo>
                    <a:pt x="0" y="183102"/>
                  </a:ln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3480" cy="221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33130" y="4007471"/>
            <a:ext cx="776851" cy="776851"/>
            <a:chOff x="0" y="0"/>
            <a:chExt cx="204603" cy="204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603" cy="204603"/>
            </a:xfrm>
            <a:custGeom>
              <a:avLst/>
              <a:gdLst/>
              <a:ahLst/>
              <a:cxnLst/>
              <a:rect l="l" t="t" r="r" b="b"/>
              <a:pathLst>
                <a:path w="204603" h="204603">
                  <a:moveTo>
                    <a:pt x="102301" y="0"/>
                  </a:moveTo>
                  <a:lnTo>
                    <a:pt x="102301" y="0"/>
                  </a:lnTo>
                  <a:cubicBezTo>
                    <a:pt x="129433" y="0"/>
                    <a:pt x="155454" y="10778"/>
                    <a:pt x="174639" y="29963"/>
                  </a:cubicBezTo>
                  <a:cubicBezTo>
                    <a:pt x="193825" y="49149"/>
                    <a:pt x="204603" y="75169"/>
                    <a:pt x="204603" y="102301"/>
                  </a:cubicBezTo>
                  <a:lnTo>
                    <a:pt x="204603" y="102301"/>
                  </a:lnTo>
                  <a:cubicBezTo>
                    <a:pt x="204603" y="129433"/>
                    <a:pt x="193825" y="155454"/>
                    <a:pt x="174639" y="174639"/>
                  </a:cubicBezTo>
                  <a:cubicBezTo>
                    <a:pt x="155454" y="193825"/>
                    <a:pt x="129433" y="204603"/>
                    <a:pt x="102301" y="204603"/>
                  </a:cubicBezTo>
                  <a:lnTo>
                    <a:pt x="102301" y="204603"/>
                  </a:lnTo>
                  <a:cubicBezTo>
                    <a:pt x="75169" y="204603"/>
                    <a:pt x="49149" y="193825"/>
                    <a:pt x="29963" y="174639"/>
                  </a:cubicBezTo>
                  <a:cubicBezTo>
                    <a:pt x="10778" y="155454"/>
                    <a:pt x="0" y="129433"/>
                    <a:pt x="0" y="102301"/>
                  </a:cubicBezTo>
                  <a:lnTo>
                    <a:pt x="0" y="102301"/>
                  </a:lnTo>
                  <a:cubicBezTo>
                    <a:pt x="0" y="75169"/>
                    <a:pt x="10778" y="49149"/>
                    <a:pt x="29963" y="29963"/>
                  </a:cubicBezTo>
                  <a:cubicBezTo>
                    <a:pt x="49149" y="10778"/>
                    <a:pt x="75169" y="0"/>
                    <a:pt x="102301" y="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4603" cy="242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31571" y="6484757"/>
            <a:ext cx="3824448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Rubén Mark Salazar Tocas</a:t>
            </a:r>
          </a:p>
          <a:p>
            <a:pPr marL="0" lvl="0" indent="0" algn="l">
              <a:lnSpc>
                <a:spcPts val="3471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X Ciclo — 2026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Investigador / Desarrollador</a:t>
            </a:r>
          </a:p>
        </p:txBody>
      </p:sp>
      <p:sp>
        <p:nvSpPr>
          <p:cNvPr id="16" name="Freeform 16"/>
          <p:cNvSpPr/>
          <p:nvPr/>
        </p:nvSpPr>
        <p:spPr>
          <a:xfrm rot="17397588">
            <a:off x="1693596" y="3168963"/>
            <a:ext cx="2962880" cy="2992808"/>
          </a:xfrm>
          <a:custGeom>
            <a:avLst/>
            <a:gdLst/>
            <a:ahLst/>
            <a:cxnLst/>
            <a:rect l="l" t="t" r="r" b="b"/>
            <a:pathLst>
              <a:path w="3950506" h="3990411">
                <a:moveTo>
                  <a:pt x="0" y="0"/>
                </a:moveTo>
                <a:lnTo>
                  <a:pt x="3950506" y="0"/>
                </a:lnTo>
                <a:lnTo>
                  <a:pt x="3950506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61923" y="2725849"/>
            <a:ext cx="3181900" cy="31819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125" r="-36968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 rot="17397588">
            <a:off x="6371306" y="3132712"/>
            <a:ext cx="2962880" cy="2992808"/>
          </a:xfrm>
          <a:custGeom>
            <a:avLst/>
            <a:gdLst/>
            <a:ahLst/>
            <a:cxnLst/>
            <a:rect l="l" t="t" r="r" b="b"/>
            <a:pathLst>
              <a:path w="3950506" h="3990411">
                <a:moveTo>
                  <a:pt x="0" y="0"/>
                </a:moveTo>
                <a:lnTo>
                  <a:pt x="3950506" y="0"/>
                </a:lnTo>
                <a:lnTo>
                  <a:pt x="3950506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6439633" y="2689598"/>
            <a:ext cx="3181900" cy="31819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125" r="-36968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 rot="17397588">
            <a:off x="11405530" y="3132712"/>
            <a:ext cx="2962880" cy="2992808"/>
          </a:xfrm>
          <a:custGeom>
            <a:avLst/>
            <a:gdLst/>
            <a:ahLst/>
            <a:cxnLst/>
            <a:rect l="l" t="t" r="r" b="b"/>
            <a:pathLst>
              <a:path w="3950506" h="3990411">
                <a:moveTo>
                  <a:pt x="0" y="0"/>
                </a:moveTo>
                <a:lnTo>
                  <a:pt x="3950506" y="0"/>
                </a:lnTo>
                <a:lnTo>
                  <a:pt x="3950506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1473857" y="2689598"/>
            <a:ext cx="3181900" cy="318190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125" r="-36968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028700" y="1247775"/>
            <a:ext cx="10954590" cy="93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3"/>
              </a:lnSpc>
            </a:pPr>
            <a:r>
              <a:rPr lang="en-US" sz="7570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EQUIPO DE TRABAJO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8424" y="9799625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86835" y="6533794"/>
            <a:ext cx="3824448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Ing. Nemias Saboya Rios</a:t>
            </a:r>
          </a:p>
          <a:p>
            <a:pPr marL="0" lvl="0" indent="0" algn="l">
              <a:lnSpc>
                <a:spcPts val="3471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Asesor Principal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95903" y="6533794"/>
            <a:ext cx="3824448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Ing. Fernando M. Asin Gomez</a:t>
            </a:r>
          </a:p>
          <a:p>
            <a:pPr marL="0" lvl="0" indent="0" algn="l">
              <a:lnSpc>
                <a:spcPts val="3471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Co-asesor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3" name="Freeform 3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09238" y="1509929"/>
            <a:ext cx="13609449" cy="111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32"/>
              </a:lnSpc>
            </a:pPr>
            <a:r>
              <a:rPr lang="en-US" sz="8925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INDICE DE CONTENIDO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73711" y="3438335"/>
            <a:ext cx="7295055" cy="49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7"/>
              </a:lnSpc>
            </a:pPr>
            <a:r>
              <a:rPr lang="en-US" sz="1300" b="1">
                <a:solidFill>
                  <a:srgbClr val="00286E"/>
                </a:solidFill>
                <a:latin typeface="Open Sauce"/>
                <a:ea typeface="Open Sauce"/>
                <a:cs typeface="Open Sauce"/>
                <a:sym typeface="Open Sauce"/>
              </a:rPr>
              <a:t>Problemática y Objetivos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79700" y="2831014"/>
            <a:ext cx="1772189" cy="177218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679700" y="4698453"/>
            <a:ext cx="1772189" cy="17721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79700" y="6563917"/>
            <a:ext cx="1772189" cy="17721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5293412" y="2218932"/>
            <a:ext cx="11276000" cy="11265054"/>
            <a:chOff x="0" y="0"/>
            <a:chExt cx="890190" cy="889326"/>
          </a:xfrm>
        </p:grpSpPr>
        <p:sp>
          <p:nvSpPr>
            <p:cNvPr id="17" name="Freeform 17"/>
            <p:cNvSpPr/>
            <p:nvPr/>
          </p:nvSpPr>
          <p:spPr>
            <a:xfrm>
              <a:off x="28459" y="28420"/>
              <a:ext cx="833273" cy="832487"/>
            </a:xfrm>
            <a:custGeom>
              <a:avLst/>
              <a:gdLst/>
              <a:ahLst/>
              <a:cxnLst/>
              <a:rect l="l" t="t" r="r" b="b"/>
              <a:pathLst>
                <a:path w="833273" h="832487">
                  <a:moveTo>
                    <a:pt x="465209" y="20105"/>
                  </a:moveTo>
                  <a:lnTo>
                    <a:pt x="813159" y="367718"/>
                  </a:lnTo>
                  <a:cubicBezTo>
                    <a:pt x="826037" y="380583"/>
                    <a:pt x="833273" y="398040"/>
                    <a:pt x="833273" y="416243"/>
                  </a:cubicBezTo>
                  <a:cubicBezTo>
                    <a:pt x="833273" y="434446"/>
                    <a:pt x="826037" y="451903"/>
                    <a:pt x="813159" y="464768"/>
                  </a:cubicBezTo>
                  <a:lnTo>
                    <a:pt x="465209" y="812381"/>
                  </a:lnTo>
                  <a:cubicBezTo>
                    <a:pt x="438375" y="839188"/>
                    <a:pt x="394897" y="839188"/>
                    <a:pt x="368064" y="812381"/>
                  </a:cubicBezTo>
                  <a:lnTo>
                    <a:pt x="20113" y="464768"/>
                  </a:lnTo>
                  <a:cubicBezTo>
                    <a:pt x="7236" y="451903"/>
                    <a:pt x="0" y="434446"/>
                    <a:pt x="0" y="416243"/>
                  </a:cubicBezTo>
                  <a:cubicBezTo>
                    <a:pt x="0" y="398040"/>
                    <a:pt x="7236" y="380583"/>
                    <a:pt x="20113" y="367718"/>
                  </a:cubicBezTo>
                  <a:lnTo>
                    <a:pt x="368064" y="20105"/>
                  </a:lnTo>
                  <a:cubicBezTo>
                    <a:pt x="394897" y="-6702"/>
                    <a:pt x="438375" y="-6702"/>
                    <a:pt x="465209" y="20105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2568333">
            <a:off x="-1334811" y="3516921"/>
            <a:ext cx="4534669" cy="6919448"/>
            <a:chOff x="0" y="0"/>
            <a:chExt cx="361230" cy="55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1230" cy="551200"/>
            </a:xfrm>
            <a:custGeom>
              <a:avLst/>
              <a:gdLst/>
              <a:ahLst/>
              <a:cxnLst/>
              <a:rect l="l" t="t" r="r" b="b"/>
              <a:pathLst>
                <a:path w="361230" h="551200">
                  <a:moveTo>
                    <a:pt x="42682" y="0"/>
                  </a:moveTo>
                  <a:lnTo>
                    <a:pt x="318548" y="0"/>
                  </a:lnTo>
                  <a:cubicBezTo>
                    <a:pt x="329868" y="0"/>
                    <a:pt x="340724" y="4497"/>
                    <a:pt x="348728" y="12501"/>
                  </a:cubicBezTo>
                  <a:cubicBezTo>
                    <a:pt x="356733" y="20506"/>
                    <a:pt x="361230" y="31362"/>
                    <a:pt x="361230" y="42682"/>
                  </a:cubicBezTo>
                  <a:lnTo>
                    <a:pt x="361230" y="508518"/>
                  </a:lnTo>
                  <a:cubicBezTo>
                    <a:pt x="361230" y="532091"/>
                    <a:pt x="342120" y="551200"/>
                    <a:pt x="318548" y="551200"/>
                  </a:cubicBezTo>
                  <a:lnTo>
                    <a:pt x="42682" y="551200"/>
                  </a:lnTo>
                  <a:cubicBezTo>
                    <a:pt x="31362" y="551200"/>
                    <a:pt x="20506" y="546703"/>
                    <a:pt x="12501" y="538699"/>
                  </a:cubicBezTo>
                  <a:cubicBezTo>
                    <a:pt x="4497" y="530695"/>
                    <a:pt x="0" y="519838"/>
                    <a:pt x="0" y="508518"/>
                  </a:cubicBezTo>
                  <a:lnTo>
                    <a:pt x="0" y="42682"/>
                  </a:lnTo>
                  <a:cubicBezTo>
                    <a:pt x="0" y="31362"/>
                    <a:pt x="4497" y="20506"/>
                    <a:pt x="12501" y="12501"/>
                  </a:cubicBezTo>
                  <a:cubicBezTo>
                    <a:pt x="20506" y="4497"/>
                    <a:pt x="31362" y="0"/>
                    <a:pt x="42682" y="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1230" cy="58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161107" y="9723489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73711" y="5305774"/>
            <a:ext cx="7295055" cy="49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7"/>
              </a:lnSpc>
            </a:pPr>
            <a:r>
              <a:rPr lang="en-US" sz="1300" b="1">
                <a:solidFill>
                  <a:srgbClr val="00286E"/>
                </a:solidFill>
                <a:latin typeface="Open Sauce"/>
                <a:ea typeface="Open Sauce"/>
                <a:cs typeface="Open Sauce"/>
                <a:sym typeface="Open Sauce"/>
              </a:rPr>
              <a:t>Metodología y Producto Ingenieril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73711" y="7177771"/>
            <a:ext cx="7295055" cy="49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7"/>
              </a:lnSpc>
            </a:pPr>
            <a:r>
              <a:rPr lang="en-US" sz="1300" b="1">
                <a:solidFill>
                  <a:srgbClr val="00286E"/>
                </a:solidFill>
                <a:latin typeface="Open Sauce"/>
                <a:ea typeface="Open Sauce"/>
                <a:cs typeface="Open Sauce"/>
                <a:sym typeface="Open Sauce"/>
              </a:rPr>
              <a:t>Resultados y Conclusiones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3566" y="5134909"/>
            <a:ext cx="6559951" cy="3257829"/>
            <a:chOff x="0" y="0"/>
            <a:chExt cx="1727724" cy="858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7724" cy="858029"/>
            </a:xfrm>
            <a:custGeom>
              <a:avLst/>
              <a:gdLst/>
              <a:ahLst/>
              <a:cxnLst/>
              <a:rect l="l" t="t" r="r" b="b"/>
              <a:pathLst>
                <a:path w="1727724" h="858029">
                  <a:moveTo>
                    <a:pt x="53108" y="0"/>
                  </a:moveTo>
                  <a:lnTo>
                    <a:pt x="1674616" y="0"/>
                  </a:lnTo>
                  <a:cubicBezTo>
                    <a:pt x="1688701" y="0"/>
                    <a:pt x="1702209" y="5595"/>
                    <a:pt x="1712169" y="15555"/>
                  </a:cubicBezTo>
                  <a:cubicBezTo>
                    <a:pt x="1722129" y="25515"/>
                    <a:pt x="1727724" y="39023"/>
                    <a:pt x="1727724" y="53108"/>
                  </a:cubicBezTo>
                  <a:lnTo>
                    <a:pt x="1727724" y="804921"/>
                  </a:lnTo>
                  <a:cubicBezTo>
                    <a:pt x="1727724" y="834252"/>
                    <a:pt x="1703947" y="858029"/>
                    <a:pt x="1674616" y="858029"/>
                  </a:cubicBezTo>
                  <a:lnTo>
                    <a:pt x="53108" y="858029"/>
                  </a:lnTo>
                  <a:cubicBezTo>
                    <a:pt x="39023" y="858029"/>
                    <a:pt x="25515" y="852434"/>
                    <a:pt x="15555" y="842474"/>
                  </a:cubicBezTo>
                  <a:cubicBezTo>
                    <a:pt x="5595" y="832514"/>
                    <a:pt x="0" y="819006"/>
                    <a:pt x="0" y="804921"/>
                  </a:cubicBezTo>
                  <a:lnTo>
                    <a:pt x="0" y="53108"/>
                  </a:lnTo>
                  <a:cubicBezTo>
                    <a:pt x="0" y="23777"/>
                    <a:pt x="23777" y="0"/>
                    <a:pt x="53108" y="0"/>
                  </a:cubicBezTo>
                  <a:close/>
                </a:path>
              </a:pathLst>
            </a:custGeom>
            <a:ln w="66675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7724" cy="896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45117" y="4248815"/>
            <a:ext cx="1772189" cy="17721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17"/>
                </a:lnSpc>
              </a:pPr>
              <a:r>
                <a:rPr lang="en-US" sz="2084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04483" y="5134909"/>
            <a:ext cx="6559951" cy="3257829"/>
            <a:chOff x="0" y="0"/>
            <a:chExt cx="1727724" cy="858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7724" cy="858029"/>
            </a:xfrm>
            <a:custGeom>
              <a:avLst/>
              <a:gdLst/>
              <a:ahLst/>
              <a:cxnLst/>
              <a:rect l="l" t="t" r="r" b="b"/>
              <a:pathLst>
                <a:path w="1727724" h="858029">
                  <a:moveTo>
                    <a:pt x="53108" y="0"/>
                  </a:moveTo>
                  <a:lnTo>
                    <a:pt x="1674616" y="0"/>
                  </a:lnTo>
                  <a:cubicBezTo>
                    <a:pt x="1688701" y="0"/>
                    <a:pt x="1702209" y="5595"/>
                    <a:pt x="1712169" y="15555"/>
                  </a:cubicBezTo>
                  <a:cubicBezTo>
                    <a:pt x="1722129" y="25515"/>
                    <a:pt x="1727724" y="39023"/>
                    <a:pt x="1727724" y="53108"/>
                  </a:cubicBezTo>
                  <a:lnTo>
                    <a:pt x="1727724" y="804921"/>
                  </a:lnTo>
                  <a:cubicBezTo>
                    <a:pt x="1727724" y="834252"/>
                    <a:pt x="1703947" y="858029"/>
                    <a:pt x="1674616" y="858029"/>
                  </a:cubicBezTo>
                  <a:lnTo>
                    <a:pt x="53108" y="858029"/>
                  </a:lnTo>
                  <a:cubicBezTo>
                    <a:pt x="39023" y="858029"/>
                    <a:pt x="25515" y="852434"/>
                    <a:pt x="15555" y="842474"/>
                  </a:cubicBezTo>
                  <a:cubicBezTo>
                    <a:pt x="5595" y="832514"/>
                    <a:pt x="0" y="819006"/>
                    <a:pt x="0" y="804921"/>
                  </a:cubicBezTo>
                  <a:lnTo>
                    <a:pt x="0" y="53108"/>
                  </a:lnTo>
                  <a:cubicBezTo>
                    <a:pt x="0" y="23777"/>
                    <a:pt x="23777" y="0"/>
                    <a:pt x="53108" y="0"/>
                  </a:cubicBezTo>
                  <a:close/>
                </a:path>
              </a:pathLst>
            </a:custGeom>
            <a:ln w="66675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27724" cy="896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35029" y="4248815"/>
            <a:ext cx="1772189" cy="17721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17"/>
                </a:lnSpc>
              </a:pPr>
              <a:r>
                <a:rPr lang="en-US" sz="2084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1536216" y="291347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542200" y="243974"/>
            <a:ext cx="635936" cy="583117"/>
            <a:chOff x="0" y="0"/>
            <a:chExt cx="1791183" cy="1642402"/>
          </a:xfrm>
        </p:grpSpPr>
        <p:sp>
          <p:nvSpPr>
            <p:cNvPr id="16" name="Freeform 16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63673" y="827091"/>
            <a:ext cx="992991" cy="281733"/>
            <a:chOff x="0" y="0"/>
            <a:chExt cx="1323988" cy="37564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grpSp>
        <p:nvGrpSpPr>
          <p:cNvPr id="29" name="Group 29"/>
          <p:cNvGrpSpPr/>
          <p:nvPr/>
        </p:nvGrpSpPr>
        <p:grpSpPr>
          <a:xfrm rot="-8235160">
            <a:off x="-1477388" y="2187913"/>
            <a:ext cx="2954777" cy="3086100"/>
            <a:chOff x="0" y="0"/>
            <a:chExt cx="571500" cy="596900"/>
          </a:xfrm>
        </p:grpSpPr>
        <p:sp>
          <p:nvSpPr>
            <p:cNvPr id="30" name="Freeform 30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891310" y="3410614"/>
            <a:ext cx="6505380" cy="102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1300" b="1">
                <a:solidFill>
                  <a:srgbClr val="00286E"/>
                </a:solidFill>
                <a:latin typeface="Open Sauce"/>
                <a:ea typeface="Open Sauce"/>
                <a:cs typeface="Open Sauce"/>
                <a:sym typeface="Open Sauce"/>
              </a:rPr>
              <a:t>Pregunta de investigación: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44393" y="1885166"/>
            <a:ext cx="11999214" cy="100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22"/>
              </a:lnSpc>
            </a:pPr>
            <a:r>
              <a:rPr lang="en-US" sz="8136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PROBLEMATICA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83173" y="6182929"/>
            <a:ext cx="5302836" cy="12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4"/>
              </a:lnSpc>
            </a:pPr>
            <a:r>
              <a:rPr lang="en-US" sz="12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¿De qué manera un sistema basado en Isolation Forest puede detectar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comportamientos anómalos en la red UPeU y aplicar control inline en tiempo real?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64091" y="6182929"/>
            <a:ext cx="5302836" cy="12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4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► Las redes universitarias reciben ataques cuyas firmas son desconocidas a priori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► Los IDS basados en firmas no bloquean ataques zero-day — solo generan alertas pasivas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► No existe respuesta automática inline en la infraestructura actual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Hipótesis: Un modelo Isolation Forest entrenado sobre tráfico normal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puede detectar ataques con AUC &gt; 0.80 y latencia &lt; 500 ms.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6723" y="262772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56723" y="683255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78769" y="683255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8860" y="1132073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0" y="9605392"/>
            <a:ext cx="18276180" cy="695215"/>
            <a:chOff x="0" y="0"/>
            <a:chExt cx="4813480" cy="18310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13479" cy="183102"/>
            </a:xfrm>
            <a:custGeom>
              <a:avLst/>
              <a:gdLst/>
              <a:ahLst/>
              <a:cxnLst/>
              <a:rect l="l" t="t" r="r" b="b"/>
              <a:pathLst>
                <a:path w="4813479" h="183102">
                  <a:moveTo>
                    <a:pt x="0" y="0"/>
                  </a:moveTo>
                  <a:lnTo>
                    <a:pt x="4813479" y="0"/>
                  </a:lnTo>
                  <a:lnTo>
                    <a:pt x="4813479" y="183102"/>
                  </a:lnTo>
                  <a:lnTo>
                    <a:pt x="0" y="183102"/>
                  </a:ln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813480" cy="221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284160" y="9809214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grpSp>
        <p:nvGrpSpPr>
          <p:cNvPr id="44" name="Group 44"/>
          <p:cNvGrpSpPr/>
          <p:nvPr/>
        </p:nvGrpSpPr>
        <p:grpSpPr>
          <a:xfrm rot="2700000">
            <a:off x="16810612" y="5579478"/>
            <a:ext cx="2954777" cy="3086100"/>
            <a:chOff x="0" y="0"/>
            <a:chExt cx="571500" cy="596900"/>
          </a:xfrm>
        </p:grpSpPr>
        <p:sp>
          <p:nvSpPr>
            <p:cNvPr id="45" name="Freeform 45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 rot="-2700000">
            <a:off x="15127108" y="-1543050"/>
            <a:ext cx="2954777" cy="3086100"/>
            <a:chOff x="0" y="0"/>
            <a:chExt cx="571500" cy="596900"/>
          </a:xfrm>
        </p:grpSpPr>
        <p:sp>
          <p:nvSpPr>
            <p:cNvPr id="48" name="Freeform 48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/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11578" y="4310221"/>
            <a:ext cx="4292850" cy="1550117"/>
            <a:chOff x="0" y="0"/>
            <a:chExt cx="1130627" cy="4082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0627" cy="408261"/>
            </a:xfrm>
            <a:custGeom>
              <a:avLst/>
              <a:gdLst/>
              <a:ahLst/>
              <a:cxnLst/>
              <a:rect l="l" t="t" r="r" b="b"/>
              <a:pathLst>
                <a:path w="1130627" h="408261">
                  <a:moveTo>
                    <a:pt x="81155" y="0"/>
                  </a:moveTo>
                  <a:lnTo>
                    <a:pt x="1049472" y="0"/>
                  </a:lnTo>
                  <a:cubicBezTo>
                    <a:pt x="1070996" y="0"/>
                    <a:pt x="1091638" y="8550"/>
                    <a:pt x="1106857" y="23770"/>
                  </a:cubicBezTo>
                  <a:cubicBezTo>
                    <a:pt x="1122077" y="38989"/>
                    <a:pt x="1130627" y="59631"/>
                    <a:pt x="1130627" y="81155"/>
                  </a:cubicBezTo>
                  <a:lnTo>
                    <a:pt x="1130627" y="327106"/>
                  </a:lnTo>
                  <a:cubicBezTo>
                    <a:pt x="1130627" y="371927"/>
                    <a:pt x="1094293" y="408261"/>
                    <a:pt x="1049472" y="408261"/>
                  </a:cubicBezTo>
                  <a:lnTo>
                    <a:pt x="81155" y="408261"/>
                  </a:lnTo>
                  <a:cubicBezTo>
                    <a:pt x="36334" y="408261"/>
                    <a:pt x="0" y="371927"/>
                    <a:pt x="0" y="327106"/>
                  </a:cubicBezTo>
                  <a:lnTo>
                    <a:pt x="0" y="81155"/>
                  </a:lnTo>
                  <a:cubicBezTo>
                    <a:pt x="0" y="36334"/>
                    <a:pt x="36334" y="0"/>
                    <a:pt x="81155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30627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0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F1 — Entorno de laboratorio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4 VMs: Desktop · Sensor Suricata · Kali · Server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Suricata 7.0.3 · interfaz ens35 · eve.json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38143" y="4310221"/>
            <a:ext cx="4950079" cy="1550117"/>
            <a:chOff x="0" y="0"/>
            <a:chExt cx="1303724" cy="4082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3724" cy="408261"/>
            </a:xfrm>
            <a:custGeom>
              <a:avLst/>
              <a:gdLst/>
              <a:ahLst/>
              <a:cxnLst/>
              <a:rect l="l" t="t" r="r" b="b"/>
              <a:pathLst>
                <a:path w="1303724" h="408261">
                  <a:moveTo>
                    <a:pt x="70380" y="0"/>
                  </a:moveTo>
                  <a:lnTo>
                    <a:pt x="1233344" y="0"/>
                  </a:lnTo>
                  <a:cubicBezTo>
                    <a:pt x="1272214" y="0"/>
                    <a:pt x="1303724" y="31510"/>
                    <a:pt x="1303724" y="70380"/>
                  </a:cubicBezTo>
                  <a:lnTo>
                    <a:pt x="1303724" y="337881"/>
                  </a:lnTo>
                  <a:cubicBezTo>
                    <a:pt x="1303724" y="356547"/>
                    <a:pt x="1296309" y="374449"/>
                    <a:pt x="1283111" y="387648"/>
                  </a:cubicBezTo>
                  <a:cubicBezTo>
                    <a:pt x="1269912" y="400846"/>
                    <a:pt x="1252010" y="408261"/>
                    <a:pt x="1233344" y="408261"/>
                  </a:cubicBezTo>
                  <a:lnTo>
                    <a:pt x="70380" y="408261"/>
                  </a:lnTo>
                  <a:cubicBezTo>
                    <a:pt x="31510" y="408261"/>
                    <a:pt x="0" y="376751"/>
                    <a:pt x="0" y="337881"/>
                  </a:cubicBezTo>
                  <a:lnTo>
                    <a:pt x="0" y="70380"/>
                  </a:lnTo>
                  <a:cubicBezTo>
                    <a:pt x="0" y="31510"/>
                    <a:pt x="31510" y="0"/>
                    <a:pt x="70380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303724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0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F2 — Captura de tráfico por grupos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Grupo A Normal · B Anómalo · C Mixto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47 archivos .gz · 105 M flows raw capturados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11578" y="6607354"/>
            <a:ext cx="4292850" cy="1550117"/>
            <a:chOff x="0" y="0"/>
            <a:chExt cx="1130627" cy="4082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0627" cy="408261"/>
            </a:xfrm>
            <a:custGeom>
              <a:avLst/>
              <a:gdLst/>
              <a:ahLst/>
              <a:cxnLst/>
              <a:rect l="l" t="t" r="r" b="b"/>
              <a:pathLst>
                <a:path w="1130627" h="408261">
                  <a:moveTo>
                    <a:pt x="81155" y="0"/>
                  </a:moveTo>
                  <a:lnTo>
                    <a:pt x="1049472" y="0"/>
                  </a:lnTo>
                  <a:cubicBezTo>
                    <a:pt x="1070996" y="0"/>
                    <a:pt x="1091638" y="8550"/>
                    <a:pt x="1106857" y="23770"/>
                  </a:cubicBezTo>
                  <a:cubicBezTo>
                    <a:pt x="1122077" y="38989"/>
                    <a:pt x="1130627" y="59631"/>
                    <a:pt x="1130627" y="81155"/>
                  </a:cubicBezTo>
                  <a:lnTo>
                    <a:pt x="1130627" y="327106"/>
                  </a:lnTo>
                  <a:cubicBezTo>
                    <a:pt x="1130627" y="371927"/>
                    <a:pt x="1094293" y="408261"/>
                    <a:pt x="1049472" y="408261"/>
                  </a:cubicBezTo>
                  <a:lnTo>
                    <a:pt x="81155" y="408261"/>
                  </a:lnTo>
                  <a:cubicBezTo>
                    <a:pt x="36334" y="408261"/>
                    <a:pt x="0" y="371927"/>
                    <a:pt x="0" y="327106"/>
                  </a:cubicBezTo>
                  <a:lnTo>
                    <a:pt x="0" y="81155"/>
                  </a:lnTo>
                  <a:cubicBezTo>
                    <a:pt x="0" y="36334"/>
                    <a:pt x="36334" y="0"/>
                    <a:pt x="81155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30627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0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F5 + F6 — Control inline y Validación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iptables/ipset · PERMIT / LIMIT / BLOCK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40 corridas · Disponibilidad 100% · ITL 0%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38143" y="6607354"/>
            <a:ext cx="4950079" cy="1550117"/>
            <a:chOff x="0" y="0"/>
            <a:chExt cx="1303724" cy="408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03724" cy="408261"/>
            </a:xfrm>
            <a:custGeom>
              <a:avLst/>
              <a:gdLst/>
              <a:ahLst/>
              <a:cxnLst/>
              <a:rect l="l" t="t" r="r" b="b"/>
              <a:pathLst>
                <a:path w="1303724" h="408261">
                  <a:moveTo>
                    <a:pt x="70380" y="0"/>
                  </a:moveTo>
                  <a:lnTo>
                    <a:pt x="1233344" y="0"/>
                  </a:lnTo>
                  <a:cubicBezTo>
                    <a:pt x="1272214" y="0"/>
                    <a:pt x="1303724" y="31510"/>
                    <a:pt x="1303724" y="70380"/>
                  </a:cubicBezTo>
                  <a:lnTo>
                    <a:pt x="1303724" y="337881"/>
                  </a:lnTo>
                  <a:cubicBezTo>
                    <a:pt x="1303724" y="356547"/>
                    <a:pt x="1296309" y="374449"/>
                    <a:pt x="1283111" y="387648"/>
                  </a:cubicBezTo>
                  <a:cubicBezTo>
                    <a:pt x="1269912" y="400846"/>
                    <a:pt x="1252010" y="408261"/>
                    <a:pt x="1233344" y="408261"/>
                  </a:cubicBezTo>
                  <a:lnTo>
                    <a:pt x="70380" y="408261"/>
                  </a:lnTo>
                  <a:cubicBezTo>
                    <a:pt x="31510" y="408261"/>
                    <a:pt x="0" y="376751"/>
                    <a:pt x="0" y="337881"/>
                  </a:cubicBezTo>
                  <a:lnTo>
                    <a:pt x="0" y="70380"/>
                  </a:lnTo>
                  <a:cubicBezTo>
                    <a:pt x="0" y="31510"/>
                    <a:pt x="31510" y="0"/>
                    <a:pt x="70380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303724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0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F3 + F4 — Modelado y Motor de decisión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IF n=300 · AUC=0.8998 · τ1=−0.4459 · τ2=−0.6027</a:t>
              </a:r>
            </a:p>
            <a:p>
              <a:pPr algn="l"/>
              <a:r>
                <a:rPr sz="1000" b="0">
                  <a:solidFill>
                    <a:srgbClr val="FFFFFF"/>
                  </a:solidFill>
                </a:rPr>
                <a:t>Latencia P95 = 34.8 ms · motor_decision.py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019206" y="5118617"/>
            <a:ext cx="553357" cy="0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10417906" y="6019307"/>
            <a:ext cx="0" cy="429078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H="1">
            <a:off x="7019206" y="7415750"/>
            <a:ext cx="553357" cy="0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938800" y="4574402"/>
            <a:ext cx="1021755" cy="102175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765366" y="4574402"/>
            <a:ext cx="1021755" cy="102175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38800" y="6936663"/>
            <a:ext cx="1021755" cy="102175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65366" y="6936663"/>
            <a:ext cx="1021755" cy="102175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</a:pPr>
              <a:r>
                <a:rPr sz="1000" b="0">
                  <a:solidFill>
                    <a:srgbClr val="FFFFFF"/>
                  </a:solidFill>
                </a:rPr>
                <a:t>Producto Ingenieril: sistema IDPS operativo con dashboard web en tiempo real</a:t>
              </a: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327637" y="2223716"/>
            <a:ext cx="8599715" cy="156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5"/>
              </a:lnSpc>
            </a:pPr>
            <a:r>
              <a:rPr lang="en-US" sz="6628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</a:t>
            </a:r>
          </a:p>
          <a:p>
            <a:pPr marL="0" lvl="0" indent="0" algn="l">
              <a:lnSpc>
                <a:spcPts val="5965"/>
              </a:lnSpc>
            </a:pPr>
            <a:r>
              <a:rPr lang="en-US" sz="6628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DE TRABAJO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/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61" name="Picture 60" descr="diagram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51660"/>
            <a:ext cx="8412480" cy="668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83960" y="4298405"/>
            <a:ext cx="19160962" cy="10179715"/>
            <a:chOff x="0" y="0"/>
            <a:chExt cx="1051530" cy="558650"/>
          </a:xfrm>
        </p:grpSpPr>
        <p:sp>
          <p:nvSpPr>
            <p:cNvPr id="3" name="Freeform 3"/>
            <p:cNvSpPr/>
            <p:nvPr/>
          </p:nvSpPr>
          <p:spPr>
            <a:xfrm>
              <a:off x="22946" y="17458"/>
              <a:ext cx="1005638" cy="541192"/>
            </a:xfrm>
            <a:custGeom>
              <a:avLst/>
              <a:gdLst/>
              <a:ahLst/>
              <a:cxnLst/>
              <a:rect l="l" t="t" r="r" b="b"/>
              <a:pathLst>
                <a:path w="1005638" h="541192">
                  <a:moveTo>
                    <a:pt x="530510" y="11965"/>
                  </a:moveTo>
                  <a:lnTo>
                    <a:pt x="1000892" y="511769"/>
                  </a:lnTo>
                  <a:cubicBezTo>
                    <a:pt x="1005666" y="516841"/>
                    <a:pt x="1006968" y="524265"/>
                    <a:pt x="1004205" y="530658"/>
                  </a:cubicBezTo>
                  <a:cubicBezTo>
                    <a:pt x="1001443" y="537052"/>
                    <a:pt x="995144" y="541192"/>
                    <a:pt x="988179" y="541192"/>
                  </a:cubicBezTo>
                  <a:lnTo>
                    <a:pt x="17459" y="541192"/>
                  </a:lnTo>
                  <a:cubicBezTo>
                    <a:pt x="10494" y="541192"/>
                    <a:pt x="4195" y="537052"/>
                    <a:pt x="1432" y="530658"/>
                  </a:cubicBezTo>
                  <a:cubicBezTo>
                    <a:pt x="-1330" y="524265"/>
                    <a:pt x="-28" y="516841"/>
                    <a:pt x="4745" y="511769"/>
                  </a:cubicBezTo>
                  <a:lnTo>
                    <a:pt x="475128" y="11965"/>
                  </a:lnTo>
                  <a:cubicBezTo>
                    <a:pt x="482314" y="4330"/>
                    <a:pt x="492334" y="0"/>
                    <a:pt x="502819" y="0"/>
                  </a:cubicBezTo>
                  <a:cubicBezTo>
                    <a:pt x="513304" y="0"/>
                    <a:pt x="523324" y="4330"/>
                    <a:pt x="530510" y="11965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13696" y="-2195771"/>
            <a:ext cx="18788758" cy="9328392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8" name="Freeform 8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77420" y="2497000"/>
            <a:ext cx="8988452" cy="110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67"/>
              </a:lnSpc>
            </a:pPr>
            <a:r>
              <a:rPr lang="en-US" sz="9075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7420" y="4260305"/>
            <a:ext cx="8013081" cy="37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12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1.  Isolation Forest es viable para detección de anomalías en redes universitarias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     en tiempo real: AUC = 0.8998 · Precision = 99.54% · Recall = 99.40%.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2.  El paradigma one-class replica el escenario real: el modelo detecta ataques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     que NUNCA vio durante el entrenamiento (NIST SP 800-94).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3.  El control inline (iptables/ipset) actúa en ~100 ms tras la detección,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     sin intervención humana · timeout automático de 300 s.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4.  40 corridas de validación: Disponibilidad 100% · ITL 0% · Lead Time SYN Flood = 61.92 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31432" y="3213829"/>
            <a:ext cx="1671374" cy="167137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47967" y="47967"/>
              <a:ext cx="716867" cy="716867"/>
            </a:xfrm>
            <a:custGeom>
              <a:avLst/>
              <a:gdLst/>
              <a:ahLst/>
              <a:cxnLst/>
              <a:rect l="l" t="t" r="r" b="b"/>
              <a:pathLst>
                <a:path w="716867" h="716867">
                  <a:moveTo>
                    <a:pt x="440317" y="33917"/>
                  </a:moveTo>
                  <a:lnTo>
                    <a:pt x="682949" y="276549"/>
                  </a:lnTo>
                  <a:cubicBezTo>
                    <a:pt x="728172" y="321772"/>
                    <a:pt x="728172" y="395094"/>
                    <a:pt x="682949" y="440317"/>
                  </a:cubicBezTo>
                  <a:lnTo>
                    <a:pt x="440317" y="682949"/>
                  </a:lnTo>
                  <a:cubicBezTo>
                    <a:pt x="395094" y="728172"/>
                    <a:pt x="321772" y="728172"/>
                    <a:pt x="276549" y="682949"/>
                  </a:cubicBezTo>
                  <a:lnTo>
                    <a:pt x="33917" y="440317"/>
                  </a:lnTo>
                  <a:cubicBezTo>
                    <a:pt x="-11306" y="395094"/>
                    <a:pt x="-11306" y="321772"/>
                    <a:pt x="33917" y="276549"/>
                  </a:cubicBezTo>
                  <a:lnTo>
                    <a:pt x="276549" y="33917"/>
                  </a:lnTo>
                  <a:cubicBezTo>
                    <a:pt x="321772" y="-11306"/>
                    <a:pt x="395094" y="-11306"/>
                    <a:pt x="440317" y="33917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15146745" y="200912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152729" y="153539"/>
            <a:ext cx="635936" cy="583117"/>
            <a:chOff x="0" y="0"/>
            <a:chExt cx="1791183" cy="1642402"/>
          </a:xfrm>
        </p:grpSpPr>
        <p:sp>
          <p:nvSpPr>
            <p:cNvPr id="17" name="Freeform 17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974202" y="736655"/>
            <a:ext cx="992991" cy="281733"/>
            <a:chOff x="0" y="0"/>
            <a:chExt cx="1323988" cy="37564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sp>
        <p:nvSpPr>
          <p:cNvPr id="30" name="TextBox 30"/>
          <p:cNvSpPr txBox="1"/>
          <p:nvPr/>
        </p:nvSpPr>
        <p:spPr>
          <a:xfrm>
            <a:off x="15267252" y="172337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67252" y="592819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889298" y="592819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89388" y="1041638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3" name="Freeform 3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0343" y="-1360707"/>
            <a:ext cx="12806862" cy="14183025"/>
            <a:chOff x="0" y="0"/>
            <a:chExt cx="890190" cy="985846"/>
          </a:xfrm>
        </p:grpSpPr>
        <p:sp>
          <p:nvSpPr>
            <p:cNvPr id="6" name="Freeform 6"/>
            <p:cNvSpPr/>
            <p:nvPr/>
          </p:nvSpPr>
          <p:spPr>
            <a:xfrm>
              <a:off x="16510" y="19073"/>
              <a:ext cx="857169" cy="947700"/>
            </a:xfrm>
            <a:custGeom>
              <a:avLst/>
              <a:gdLst/>
              <a:ahLst/>
              <a:cxnLst/>
              <a:rect l="l" t="t" r="r" b="b"/>
              <a:pathLst>
                <a:path w="857169" h="947700">
                  <a:moveTo>
                    <a:pt x="457350" y="12782"/>
                  </a:moveTo>
                  <a:lnTo>
                    <a:pt x="844916" y="441994"/>
                  </a:lnTo>
                  <a:cubicBezTo>
                    <a:pt x="861255" y="460089"/>
                    <a:pt x="861255" y="487611"/>
                    <a:pt x="844916" y="505705"/>
                  </a:cubicBezTo>
                  <a:lnTo>
                    <a:pt x="457350" y="934917"/>
                  </a:lnTo>
                  <a:cubicBezTo>
                    <a:pt x="450001" y="943055"/>
                    <a:pt x="439550" y="947700"/>
                    <a:pt x="428585" y="947700"/>
                  </a:cubicBezTo>
                  <a:cubicBezTo>
                    <a:pt x="417621" y="947700"/>
                    <a:pt x="407169" y="943055"/>
                    <a:pt x="399821" y="934917"/>
                  </a:cubicBezTo>
                  <a:lnTo>
                    <a:pt x="12255" y="505705"/>
                  </a:lnTo>
                  <a:cubicBezTo>
                    <a:pt x="-4084" y="487611"/>
                    <a:pt x="-4084" y="460089"/>
                    <a:pt x="12255" y="441994"/>
                  </a:cubicBezTo>
                  <a:lnTo>
                    <a:pt x="399821" y="12782"/>
                  </a:lnTo>
                  <a:cubicBezTo>
                    <a:pt x="407169" y="4644"/>
                    <a:pt x="417621" y="0"/>
                    <a:pt x="428585" y="0"/>
                  </a:cubicBezTo>
                  <a:cubicBezTo>
                    <a:pt x="439550" y="0"/>
                    <a:pt x="450001" y="4644"/>
                    <a:pt x="457350" y="1278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366946" y="4369229"/>
            <a:ext cx="8519364" cy="107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99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Liu, F. T., Ting, K. M., &amp; Zhou, Z. H. (2008). Isolation Forest. IEEE ICDM, 413-422.</a:t>
            </a:r>
          </a:p>
          <a:p>
            <a:pPr marL="0" lvl="0" indent="0" algn="l">
              <a:lnSpc>
                <a:spcPts val="2899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NIST SP 800-94 (2007). Guide to Intrusion Detection and Prevention Systems. NIST.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Pedregosa, F. et al. (2011). Scikit-learn: Machine Learning in Python. JMLR 12, 2825-2830.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Roesch, M. (1999). Snort - Lightweight Intrusion Detection for Networks. USENIX LISA.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Albin, E., &amp; Rowe, N. (2012). A realistic experimental comparison of the Suricata and Snort IDS. ICITST.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6946" y="2564971"/>
            <a:ext cx="8920947" cy="118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3"/>
              </a:lnSpc>
            </a:pPr>
            <a:r>
              <a:rPr lang="en-US" sz="9593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REFERENCIAS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001343" y="6626710"/>
            <a:ext cx="1371544" cy="1371544"/>
            <a:chOff x="0" y="0"/>
            <a:chExt cx="361230" cy="361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2366946" y="9258300"/>
            <a:ext cx="8470325" cy="0"/>
          </a:xfrm>
          <a:prstGeom prst="line">
            <a:avLst/>
          </a:prstGeom>
          <a:ln w="66675" cap="rnd">
            <a:solidFill>
              <a:srgbClr val="00386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35888" y="9235036"/>
            <a:ext cx="21518857" cy="2096422"/>
            <a:chOff x="0" y="0"/>
            <a:chExt cx="5667518" cy="5521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67518" cy="552144"/>
            </a:xfrm>
            <a:custGeom>
              <a:avLst/>
              <a:gdLst/>
              <a:ahLst/>
              <a:cxnLst/>
              <a:rect l="l" t="t" r="r" b="b"/>
              <a:pathLst>
                <a:path w="5667518" h="552144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193726" y="1561477"/>
            <a:ext cx="12967562" cy="12847834"/>
            <a:chOff x="0" y="0"/>
            <a:chExt cx="846613" cy="838796"/>
          </a:xfrm>
        </p:grpSpPr>
        <p:sp>
          <p:nvSpPr>
            <p:cNvPr id="6" name="Freeform 6"/>
            <p:cNvSpPr/>
            <p:nvPr/>
          </p:nvSpPr>
          <p:spPr>
            <a:xfrm>
              <a:off x="24892" y="24567"/>
              <a:ext cx="796829" cy="789661"/>
            </a:xfrm>
            <a:custGeom>
              <a:avLst/>
              <a:gdLst/>
              <a:ahLst/>
              <a:cxnLst/>
              <a:rect l="l" t="t" r="r" b="b"/>
              <a:pathLst>
                <a:path w="796829" h="789661">
                  <a:moveTo>
                    <a:pt x="440826" y="17453"/>
                  </a:moveTo>
                  <a:lnTo>
                    <a:pt x="779309" y="352811"/>
                  </a:lnTo>
                  <a:cubicBezTo>
                    <a:pt x="790521" y="363920"/>
                    <a:pt x="796829" y="379048"/>
                    <a:pt x="796829" y="394831"/>
                  </a:cubicBezTo>
                  <a:cubicBezTo>
                    <a:pt x="796829" y="410614"/>
                    <a:pt x="790521" y="425742"/>
                    <a:pt x="779309" y="436851"/>
                  </a:cubicBezTo>
                  <a:lnTo>
                    <a:pt x="440826" y="772209"/>
                  </a:lnTo>
                  <a:cubicBezTo>
                    <a:pt x="417339" y="795479"/>
                    <a:pt x="379490" y="795479"/>
                    <a:pt x="356003" y="772209"/>
                  </a:cubicBezTo>
                  <a:lnTo>
                    <a:pt x="17519" y="436851"/>
                  </a:lnTo>
                  <a:cubicBezTo>
                    <a:pt x="6307" y="425742"/>
                    <a:pt x="0" y="410614"/>
                    <a:pt x="0" y="394831"/>
                  </a:cubicBezTo>
                  <a:cubicBezTo>
                    <a:pt x="0" y="379048"/>
                    <a:pt x="6307" y="363920"/>
                    <a:pt x="17519" y="352811"/>
                  </a:cubicBezTo>
                  <a:lnTo>
                    <a:pt x="356003" y="17453"/>
                  </a:lnTo>
                  <a:cubicBezTo>
                    <a:pt x="379490" y="-5817"/>
                    <a:pt x="417339" y="-5817"/>
                    <a:pt x="440826" y="17453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424017" y="-6859967"/>
            <a:ext cx="18788758" cy="9328392"/>
            <a:chOff x="0" y="0"/>
            <a:chExt cx="1557574" cy="773317"/>
          </a:xfrm>
        </p:grpSpPr>
        <p:sp>
          <p:nvSpPr>
            <p:cNvPr id="8" name="Freeform 8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59608" y="3918737"/>
            <a:ext cx="9294992" cy="1941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4118"/>
              </a:lnSpc>
            </a:pPr>
            <a:r>
              <a:rPr lang="en-US" sz="15687" b="1" dirty="0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088064" y="3979825"/>
            <a:ext cx="1371544" cy="1371544"/>
            <a:chOff x="0" y="0"/>
            <a:chExt cx="361230" cy="3612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4718233" y="2256011"/>
            <a:ext cx="11806298" cy="11937275"/>
            <a:chOff x="0" y="0"/>
            <a:chExt cx="770797" cy="779348"/>
          </a:xfrm>
        </p:grpSpPr>
        <p:sp>
          <p:nvSpPr>
            <p:cNvPr id="15" name="Freeform 15"/>
            <p:cNvSpPr/>
            <p:nvPr/>
          </p:nvSpPr>
          <p:spPr>
            <a:xfrm>
              <a:off x="26950" y="27374"/>
              <a:ext cx="716897" cy="724600"/>
            </a:xfrm>
            <a:custGeom>
              <a:avLst/>
              <a:gdLst/>
              <a:ahLst/>
              <a:cxnLst/>
              <a:rect l="l" t="t" r="r" b="b"/>
              <a:pathLst>
                <a:path w="716897" h="724600">
                  <a:moveTo>
                    <a:pt x="404560" y="19249"/>
                  </a:moveTo>
                  <a:lnTo>
                    <a:pt x="697736" y="315677"/>
                  </a:lnTo>
                  <a:cubicBezTo>
                    <a:pt x="723284" y="341509"/>
                    <a:pt x="723284" y="383091"/>
                    <a:pt x="697736" y="408923"/>
                  </a:cubicBezTo>
                  <a:lnTo>
                    <a:pt x="404560" y="705351"/>
                  </a:lnTo>
                  <a:cubicBezTo>
                    <a:pt x="392378" y="717669"/>
                    <a:pt x="375773" y="724600"/>
                    <a:pt x="358449" y="724600"/>
                  </a:cubicBezTo>
                  <a:cubicBezTo>
                    <a:pt x="341124" y="724600"/>
                    <a:pt x="324520" y="717669"/>
                    <a:pt x="312337" y="705351"/>
                  </a:cubicBezTo>
                  <a:lnTo>
                    <a:pt x="19162" y="408923"/>
                  </a:lnTo>
                  <a:cubicBezTo>
                    <a:pt x="-6387" y="383091"/>
                    <a:pt x="-6387" y="341509"/>
                    <a:pt x="19162" y="315677"/>
                  </a:cubicBezTo>
                  <a:lnTo>
                    <a:pt x="312337" y="19249"/>
                  </a:lnTo>
                  <a:cubicBezTo>
                    <a:pt x="324520" y="6931"/>
                    <a:pt x="341124" y="0"/>
                    <a:pt x="358449" y="0"/>
                  </a:cubicBezTo>
                  <a:cubicBezTo>
                    <a:pt x="375773" y="0"/>
                    <a:pt x="392378" y="6931"/>
                    <a:pt x="404560" y="1924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211033" y="236081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3566" y="5134909"/>
            <a:ext cx="6559951" cy="3257829"/>
            <a:chOff x="0" y="0"/>
            <a:chExt cx="1727724" cy="858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7724" cy="858029"/>
            </a:xfrm>
            <a:custGeom>
              <a:avLst/>
              <a:gdLst/>
              <a:ahLst/>
              <a:cxnLst/>
              <a:rect l="l" t="t" r="r" b="b"/>
              <a:pathLst>
                <a:path w="1727724" h="858029">
                  <a:moveTo>
                    <a:pt x="53108" y="0"/>
                  </a:moveTo>
                  <a:lnTo>
                    <a:pt x="1674616" y="0"/>
                  </a:lnTo>
                  <a:cubicBezTo>
                    <a:pt x="1688701" y="0"/>
                    <a:pt x="1702209" y="5595"/>
                    <a:pt x="1712169" y="15555"/>
                  </a:cubicBezTo>
                  <a:cubicBezTo>
                    <a:pt x="1722129" y="25515"/>
                    <a:pt x="1727724" y="39023"/>
                    <a:pt x="1727724" y="53108"/>
                  </a:cubicBezTo>
                  <a:lnTo>
                    <a:pt x="1727724" y="804921"/>
                  </a:lnTo>
                  <a:cubicBezTo>
                    <a:pt x="1727724" y="834252"/>
                    <a:pt x="1703947" y="858029"/>
                    <a:pt x="1674616" y="858029"/>
                  </a:cubicBezTo>
                  <a:lnTo>
                    <a:pt x="53108" y="858029"/>
                  </a:lnTo>
                  <a:cubicBezTo>
                    <a:pt x="39023" y="858029"/>
                    <a:pt x="25515" y="852434"/>
                    <a:pt x="15555" y="842474"/>
                  </a:cubicBezTo>
                  <a:cubicBezTo>
                    <a:pt x="5595" y="832514"/>
                    <a:pt x="0" y="819006"/>
                    <a:pt x="0" y="804921"/>
                  </a:cubicBezTo>
                  <a:lnTo>
                    <a:pt x="0" y="53108"/>
                  </a:lnTo>
                  <a:cubicBezTo>
                    <a:pt x="0" y="23777"/>
                    <a:pt x="23777" y="0"/>
                    <a:pt x="53108" y="0"/>
                  </a:cubicBezTo>
                  <a:close/>
                </a:path>
              </a:pathLst>
            </a:custGeom>
            <a:ln w="66675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7724" cy="896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45117" y="4248815"/>
            <a:ext cx="1772189" cy="17721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17"/>
                </a:lnSpc>
              </a:pPr>
              <a:r>
                <a:rPr lang="en-US" sz="2084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04483" y="5134909"/>
            <a:ext cx="6559951" cy="3257829"/>
            <a:chOff x="0" y="0"/>
            <a:chExt cx="1727724" cy="858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7724" cy="858029"/>
            </a:xfrm>
            <a:custGeom>
              <a:avLst/>
              <a:gdLst/>
              <a:ahLst/>
              <a:cxnLst/>
              <a:rect l="l" t="t" r="r" b="b"/>
              <a:pathLst>
                <a:path w="1727724" h="858029">
                  <a:moveTo>
                    <a:pt x="53108" y="0"/>
                  </a:moveTo>
                  <a:lnTo>
                    <a:pt x="1674616" y="0"/>
                  </a:lnTo>
                  <a:cubicBezTo>
                    <a:pt x="1688701" y="0"/>
                    <a:pt x="1702209" y="5595"/>
                    <a:pt x="1712169" y="15555"/>
                  </a:cubicBezTo>
                  <a:cubicBezTo>
                    <a:pt x="1722129" y="25515"/>
                    <a:pt x="1727724" y="39023"/>
                    <a:pt x="1727724" y="53108"/>
                  </a:cubicBezTo>
                  <a:lnTo>
                    <a:pt x="1727724" y="804921"/>
                  </a:lnTo>
                  <a:cubicBezTo>
                    <a:pt x="1727724" y="834252"/>
                    <a:pt x="1703947" y="858029"/>
                    <a:pt x="1674616" y="858029"/>
                  </a:cubicBezTo>
                  <a:lnTo>
                    <a:pt x="53108" y="858029"/>
                  </a:lnTo>
                  <a:cubicBezTo>
                    <a:pt x="39023" y="858029"/>
                    <a:pt x="25515" y="852434"/>
                    <a:pt x="15555" y="842474"/>
                  </a:cubicBezTo>
                  <a:cubicBezTo>
                    <a:pt x="5595" y="832514"/>
                    <a:pt x="0" y="819006"/>
                    <a:pt x="0" y="804921"/>
                  </a:cubicBezTo>
                  <a:lnTo>
                    <a:pt x="0" y="53108"/>
                  </a:lnTo>
                  <a:cubicBezTo>
                    <a:pt x="0" y="23777"/>
                    <a:pt x="23777" y="0"/>
                    <a:pt x="53108" y="0"/>
                  </a:cubicBezTo>
                  <a:close/>
                </a:path>
              </a:pathLst>
            </a:custGeom>
            <a:ln w="66675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27724" cy="896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35029" y="4248815"/>
            <a:ext cx="1772189" cy="17721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17"/>
                </a:lnSpc>
              </a:pPr>
              <a:r>
                <a:rPr lang="en-US" sz="2084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1536216" y="291347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>
            <a:off x="542200" y="243974"/>
            <a:ext cx="635936" cy="583117"/>
            <a:chOff x="0" y="0"/>
            <a:chExt cx="1791183" cy="1642402"/>
          </a:xfrm>
        </p:grpSpPr>
        <p:sp>
          <p:nvSpPr>
            <p:cNvPr id="16" name="Freeform 16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63673" y="827091"/>
            <a:ext cx="992991" cy="281733"/>
            <a:chOff x="0" y="0"/>
            <a:chExt cx="1323988" cy="37564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grpSp>
        <p:nvGrpSpPr>
          <p:cNvPr id="29" name="Group 29"/>
          <p:cNvGrpSpPr/>
          <p:nvPr/>
        </p:nvGrpSpPr>
        <p:grpSpPr>
          <a:xfrm rot="-8235160">
            <a:off x="-1477388" y="2187913"/>
            <a:ext cx="2954777" cy="3086100"/>
            <a:chOff x="0" y="0"/>
            <a:chExt cx="571500" cy="596900"/>
          </a:xfrm>
        </p:grpSpPr>
        <p:sp>
          <p:nvSpPr>
            <p:cNvPr id="30" name="Freeform 30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891310" y="3410614"/>
            <a:ext cx="6505380" cy="102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1300" b="1">
                <a:solidFill>
                  <a:srgbClr val="00286E"/>
                </a:solidFill>
                <a:latin typeface="Open Sauce"/>
                <a:ea typeface="Open Sauce"/>
                <a:cs typeface="Open Sauce"/>
                <a:sym typeface="Open Sauce"/>
              </a:rPr>
              <a:t>Objetivo General: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44393" y="1885166"/>
            <a:ext cx="11999214" cy="100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22"/>
              </a:lnSpc>
            </a:pPr>
            <a:r>
              <a:rPr lang="en-US" sz="24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83173" y="6182929"/>
            <a:ext cx="5302836" cy="12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4"/>
              </a:lnSpc>
            </a:pPr>
            <a:r>
              <a:rPr lang="en-US" sz="12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Desarrollar e implementar un sistema de detección temprana de comportamientos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anómalos en redes de datos mediante Isolation Forest con control de tráfico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inline (iptables/ipset) en tiempo real sobre infraestructura universitaria.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64091" y="6182929"/>
            <a:ext cx="5302836" cy="12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4"/>
              </a:lnSpc>
            </a:pPr>
            <a:r>
              <a:rPr lang="en-US" sz="1100" b="0">
                <a:solidFill>
                  <a:srgbClr val="333333"/>
                </a:solidFill>
                <a:latin typeface="Open Sauce"/>
                <a:ea typeface="Open Sauce"/>
                <a:cs typeface="Open Sauce"/>
                <a:sym typeface="Open Sauce"/>
              </a:rPr>
              <a:t>Objetivos Específicos: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OE1.  Configurar un entorno de laboratorio con Suricata 7.0.3 para captura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     de tráfico normal y anómalo en 3 grupos separados (A · B · C).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OE2.  Entrenar un modelo Isolation Forest (n=300) sobre tráfico normal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     y derivar umbrales de decisión τ1 y τ2 mediante curva ROC.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OE3.  Implementar un motor de decisión en tiempo real con latencia P95 &lt; 500 ms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       que aplique PERMIT / LIMIT / BLOCK vía iptables e ipset.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OE4.  Validar el sistema en 40 corridas con disponibilidad ≥ 99% e ITL = 0%.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6723" y="262772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56723" y="683255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78769" y="683255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8860" y="1132073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0" y="9605392"/>
            <a:ext cx="18276180" cy="695215"/>
            <a:chOff x="0" y="0"/>
            <a:chExt cx="4813480" cy="18310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13479" cy="183102"/>
            </a:xfrm>
            <a:custGeom>
              <a:avLst/>
              <a:gdLst/>
              <a:ahLst/>
              <a:cxnLst/>
              <a:rect l="l" t="t" r="r" b="b"/>
              <a:pathLst>
                <a:path w="4813479" h="183102">
                  <a:moveTo>
                    <a:pt x="0" y="0"/>
                  </a:moveTo>
                  <a:lnTo>
                    <a:pt x="4813479" y="0"/>
                  </a:lnTo>
                  <a:lnTo>
                    <a:pt x="4813479" y="183102"/>
                  </a:lnTo>
                  <a:lnTo>
                    <a:pt x="0" y="183102"/>
                  </a:ln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813480" cy="221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284160" y="9809214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grpSp>
        <p:nvGrpSpPr>
          <p:cNvPr id="44" name="Group 44"/>
          <p:cNvGrpSpPr/>
          <p:nvPr/>
        </p:nvGrpSpPr>
        <p:grpSpPr>
          <a:xfrm rot="2700000">
            <a:off x="16810612" y="5579478"/>
            <a:ext cx="2954777" cy="3086100"/>
            <a:chOff x="0" y="0"/>
            <a:chExt cx="571500" cy="596900"/>
          </a:xfrm>
        </p:grpSpPr>
        <p:sp>
          <p:nvSpPr>
            <p:cNvPr id="45" name="Freeform 45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 rot="-2700000">
            <a:off x="15127108" y="-1543050"/>
            <a:ext cx="2954777" cy="3086100"/>
            <a:chOff x="0" y="0"/>
            <a:chExt cx="571500" cy="596900"/>
          </a:xfrm>
        </p:grpSpPr>
        <p:sp>
          <p:nvSpPr>
            <p:cNvPr id="48" name="Freeform 48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0" name="Picture 49" descr="eda_distribucion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880360"/>
            <a:ext cx="73152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/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11578" y="4310221"/>
            <a:ext cx="4292850" cy="1550117"/>
            <a:chOff x="0" y="0"/>
            <a:chExt cx="1130627" cy="4082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0627" cy="408261"/>
            </a:xfrm>
            <a:custGeom>
              <a:avLst/>
              <a:gdLst/>
              <a:ahLst/>
              <a:cxnLst/>
              <a:rect l="l" t="t" r="r" b="b"/>
              <a:pathLst>
                <a:path w="1130627" h="408261">
                  <a:moveTo>
                    <a:pt x="81155" y="0"/>
                  </a:moveTo>
                  <a:lnTo>
                    <a:pt x="1049472" y="0"/>
                  </a:lnTo>
                  <a:cubicBezTo>
                    <a:pt x="1070996" y="0"/>
                    <a:pt x="1091638" y="8550"/>
                    <a:pt x="1106857" y="23770"/>
                  </a:cubicBezTo>
                  <a:cubicBezTo>
                    <a:pt x="1122077" y="38989"/>
                    <a:pt x="1130627" y="59631"/>
                    <a:pt x="1130627" y="81155"/>
                  </a:cubicBezTo>
                  <a:lnTo>
                    <a:pt x="1130627" y="327106"/>
                  </a:lnTo>
                  <a:cubicBezTo>
                    <a:pt x="1130627" y="371927"/>
                    <a:pt x="1094293" y="408261"/>
                    <a:pt x="1049472" y="408261"/>
                  </a:cubicBezTo>
                  <a:lnTo>
                    <a:pt x="81155" y="408261"/>
                  </a:lnTo>
                  <a:cubicBezTo>
                    <a:pt x="36334" y="408261"/>
                    <a:pt x="0" y="371927"/>
                    <a:pt x="0" y="327106"/>
                  </a:cubicBezTo>
                  <a:lnTo>
                    <a:pt x="0" y="81155"/>
                  </a:lnTo>
                  <a:cubicBezTo>
                    <a:pt x="0" y="36334"/>
                    <a:pt x="36334" y="0"/>
                    <a:pt x="81155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30627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1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Métricas del Modelo (F3)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AUC-ROC:    0.8998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Precision:  99.54%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Recall:     99.40%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F1-Score:   0.9947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38143" y="4310221"/>
            <a:ext cx="4950079" cy="1550117"/>
            <a:chOff x="0" y="0"/>
            <a:chExt cx="1303724" cy="4082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3724" cy="408261"/>
            </a:xfrm>
            <a:custGeom>
              <a:avLst/>
              <a:gdLst/>
              <a:ahLst/>
              <a:cxnLst/>
              <a:rect l="l" t="t" r="r" b="b"/>
              <a:pathLst>
                <a:path w="1303724" h="408261">
                  <a:moveTo>
                    <a:pt x="70380" y="0"/>
                  </a:moveTo>
                  <a:lnTo>
                    <a:pt x="1233344" y="0"/>
                  </a:lnTo>
                  <a:cubicBezTo>
                    <a:pt x="1272214" y="0"/>
                    <a:pt x="1303724" y="31510"/>
                    <a:pt x="1303724" y="70380"/>
                  </a:cubicBezTo>
                  <a:lnTo>
                    <a:pt x="1303724" y="337881"/>
                  </a:lnTo>
                  <a:cubicBezTo>
                    <a:pt x="1303724" y="356547"/>
                    <a:pt x="1296309" y="374449"/>
                    <a:pt x="1283111" y="387648"/>
                  </a:cubicBezTo>
                  <a:cubicBezTo>
                    <a:pt x="1269912" y="400846"/>
                    <a:pt x="1252010" y="408261"/>
                    <a:pt x="1233344" y="408261"/>
                  </a:cubicBezTo>
                  <a:lnTo>
                    <a:pt x="70380" y="408261"/>
                  </a:lnTo>
                  <a:cubicBezTo>
                    <a:pt x="31510" y="408261"/>
                    <a:pt x="0" y="376751"/>
                    <a:pt x="0" y="337881"/>
                  </a:cubicBezTo>
                  <a:lnTo>
                    <a:pt x="0" y="70380"/>
                  </a:lnTo>
                  <a:cubicBezTo>
                    <a:pt x="0" y="31510"/>
                    <a:pt x="31510" y="0"/>
                    <a:pt x="70380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303724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1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Métricas del Motor (F4)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Latencia P95:   34.8 ms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Latencia media: 18.3 ms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Req. &lt; 500 ms:  CUMPLE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Disponibilidad: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11578" y="6607354"/>
            <a:ext cx="4292850" cy="1550117"/>
            <a:chOff x="0" y="0"/>
            <a:chExt cx="1130627" cy="4082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0627" cy="408261"/>
            </a:xfrm>
            <a:custGeom>
              <a:avLst/>
              <a:gdLst/>
              <a:ahLst/>
              <a:cxnLst/>
              <a:rect l="l" t="t" r="r" b="b"/>
              <a:pathLst>
                <a:path w="1130627" h="408261">
                  <a:moveTo>
                    <a:pt x="81155" y="0"/>
                  </a:moveTo>
                  <a:lnTo>
                    <a:pt x="1049472" y="0"/>
                  </a:lnTo>
                  <a:cubicBezTo>
                    <a:pt x="1070996" y="0"/>
                    <a:pt x="1091638" y="8550"/>
                    <a:pt x="1106857" y="23770"/>
                  </a:cubicBezTo>
                  <a:cubicBezTo>
                    <a:pt x="1122077" y="38989"/>
                    <a:pt x="1130627" y="59631"/>
                    <a:pt x="1130627" y="81155"/>
                  </a:cubicBezTo>
                  <a:lnTo>
                    <a:pt x="1130627" y="327106"/>
                  </a:lnTo>
                  <a:cubicBezTo>
                    <a:pt x="1130627" y="371927"/>
                    <a:pt x="1094293" y="408261"/>
                    <a:pt x="1049472" y="408261"/>
                  </a:cubicBezTo>
                  <a:lnTo>
                    <a:pt x="81155" y="408261"/>
                  </a:lnTo>
                  <a:cubicBezTo>
                    <a:pt x="36334" y="408261"/>
                    <a:pt x="0" y="371927"/>
                    <a:pt x="0" y="327106"/>
                  </a:cubicBezTo>
                  <a:lnTo>
                    <a:pt x="0" y="81155"/>
                  </a:lnTo>
                  <a:cubicBezTo>
                    <a:pt x="0" y="36334"/>
                    <a:pt x="36334" y="0"/>
                    <a:pt x="81155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30627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1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AUC por tipo de ataque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Port Scan:   0.9722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HTTP Abuse:  0.9670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UDP Flood:   0.9537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SYN Flood:   0.8342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38143" y="6607354"/>
            <a:ext cx="4950079" cy="1550117"/>
            <a:chOff x="0" y="0"/>
            <a:chExt cx="1303724" cy="408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03724" cy="408261"/>
            </a:xfrm>
            <a:custGeom>
              <a:avLst/>
              <a:gdLst/>
              <a:ahLst/>
              <a:cxnLst/>
              <a:rect l="l" t="t" r="r" b="b"/>
              <a:pathLst>
                <a:path w="1303724" h="408261">
                  <a:moveTo>
                    <a:pt x="70380" y="0"/>
                  </a:moveTo>
                  <a:lnTo>
                    <a:pt x="1233344" y="0"/>
                  </a:lnTo>
                  <a:cubicBezTo>
                    <a:pt x="1272214" y="0"/>
                    <a:pt x="1303724" y="31510"/>
                    <a:pt x="1303724" y="70380"/>
                  </a:cubicBezTo>
                  <a:lnTo>
                    <a:pt x="1303724" y="337881"/>
                  </a:lnTo>
                  <a:cubicBezTo>
                    <a:pt x="1303724" y="356547"/>
                    <a:pt x="1296309" y="374449"/>
                    <a:pt x="1283111" y="387648"/>
                  </a:cubicBezTo>
                  <a:cubicBezTo>
                    <a:pt x="1269912" y="400846"/>
                    <a:pt x="1252010" y="408261"/>
                    <a:pt x="1233344" y="408261"/>
                  </a:cubicBezTo>
                  <a:lnTo>
                    <a:pt x="70380" y="408261"/>
                  </a:lnTo>
                  <a:cubicBezTo>
                    <a:pt x="31510" y="408261"/>
                    <a:pt x="0" y="376751"/>
                    <a:pt x="0" y="337881"/>
                  </a:cubicBezTo>
                  <a:lnTo>
                    <a:pt x="0" y="70380"/>
                  </a:lnTo>
                  <a:cubicBezTo>
                    <a:pt x="0" y="31510"/>
                    <a:pt x="31510" y="0"/>
                    <a:pt x="70380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303724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1100" b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Validación F6 (40 corridas)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Lead Time SYN Flood: 61.92 s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ITL (tráfico legítimo):  0%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Flows anómalos detectados</a:t>
              </a:r>
            </a:p>
            <a:p>
              <a:pPr algn="l"/>
              <a:r>
                <a:rPr sz="1100" b="0">
                  <a:solidFill>
                    <a:srgbClr val="FFFFFF"/>
                  </a:solidFill>
                </a:rPr>
                <a:t>en corrida 11: 6,500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019206" y="5118617"/>
            <a:ext cx="553357" cy="0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10417906" y="6019307"/>
            <a:ext cx="0" cy="429078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H="1">
            <a:off x="7019206" y="7415750"/>
            <a:ext cx="553357" cy="0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938800" y="4574402"/>
            <a:ext cx="1021755" cy="102175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765366" y="4574402"/>
            <a:ext cx="1021755" cy="102175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38800" y="6936663"/>
            <a:ext cx="1021755" cy="102175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65366" y="6936663"/>
            <a:ext cx="1021755" cy="102175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</a:pPr>
              <a:r>
                <a:rPr sz="1000" b="0">
                  <a:solidFill>
                    <a:srgbClr val="FFFFFF"/>
                  </a:solidFill>
                </a:rPr>
                <a:t>Producto Ingenieril: sistema IDPS operativo con dashboard web en tiempo real</a:t>
              </a: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327637" y="2223716"/>
            <a:ext cx="8599715" cy="156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5"/>
              </a:lnSpc>
            </a:pPr>
            <a:r>
              <a:rPr lang="en-US" sz="24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RESULTADOS</a:t>
            </a:r>
          </a:p>
          <a:p>
            <a:pPr marL="0" lvl="0" indent="0" algn="l">
              <a:lnSpc>
                <a:spcPts val="5965"/>
              </a:lnSpc>
            </a:pPr>
            <a:r>
              <a:rPr lang="en-US" sz="6628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/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/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61" name="Picture 60" descr="diagram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51660"/>
            <a:ext cx="8412480" cy="6686550"/>
          </a:xfrm>
          <a:prstGeom prst="rect">
            <a:avLst/>
          </a:prstGeom>
        </p:spPr>
      </p:pic>
      <p:pic>
        <p:nvPicPr>
          <p:cNvPr id="62" name="Picture 61" descr="auc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51660"/>
            <a:ext cx="8778240" cy="3909060"/>
          </a:xfrm>
          <a:prstGeom prst="rect">
            <a:avLst/>
          </a:prstGeom>
        </p:spPr>
      </p:pic>
      <p:pic>
        <p:nvPicPr>
          <p:cNvPr id="63" name="Picture 62" descr="f6_07_panel_resu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851660"/>
            <a:ext cx="8412480" cy="3909060"/>
          </a:xfrm>
          <a:prstGeom prst="rect">
            <a:avLst/>
          </a:prstGeom>
        </p:spPr>
      </p:pic>
      <p:pic>
        <p:nvPicPr>
          <p:cNvPr id="64" name="Picture 63" descr="f6_03_timeline_detec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172200"/>
            <a:ext cx="8778240" cy="3086100"/>
          </a:xfrm>
          <a:prstGeom prst="rect">
            <a:avLst/>
          </a:prstGeom>
        </p:spPr>
      </p:pic>
      <p:pic>
        <p:nvPicPr>
          <p:cNvPr id="65" name="Picture 64" descr="f6_06_latencia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6172200"/>
            <a:ext cx="8412480" cy="308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Personalizado</PresentationFormat>
  <Paragraphs>63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Open Sauce</vt:lpstr>
      <vt:lpstr>Myriad Light</vt:lpstr>
      <vt:lpstr>DM Sans Bold</vt:lpstr>
      <vt:lpstr>Prompt Bold</vt:lpstr>
      <vt:lpstr>Prompt Light</vt:lpstr>
      <vt:lpstr>Calibri</vt:lpstr>
      <vt:lpstr>Arial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institucional UPEU</dc:title>
  <cp:lastModifiedBy>Mahli Sheila</cp:lastModifiedBy>
  <cp:revision>2</cp:revision>
  <dcterms:created xsi:type="dcterms:W3CDTF">2006-08-16T00:00:00Z</dcterms:created>
  <dcterms:modified xsi:type="dcterms:W3CDTF">2026-06-08T18:03:15Z</dcterms:modified>
  <dc:identifier>DAHLnhdK3ho</dc:identifier>
</cp:coreProperties>
</file>